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2" r:id="rId1"/>
  </p:sldMasterIdLst>
  <p:sldIdLst>
    <p:sldId id="256" r:id="rId2"/>
    <p:sldId id="257" r:id="rId3"/>
    <p:sldId id="275" r:id="rId4"/>
    <p:sldId id="273" r:id="rId5"/>
    <p:sldId id="274" r:id="rId6"/>
    <p:sldId id="264" r:id="rId7"/>
    <p:sldId id="265" r:id="rId8"/>
    <p:sldId id="258" r:id="rId9"/>
    <p:sldId id="267" r:id="rId10"/>
    <p:sldId id="268" r:id="rId11"/>
    <p:sldId id="269" r:id="rId12"/>
    <p:sldId id="271" r:id="rId13"/>
    <p:sldId id="259" r:id="rId14"/>
    <p:sldId id="260" r:id="rId15"/>
    <p:sldId id="261" r:id="rId16"/>
    <p:sldId id="262" r:id="rId17"/>
    <p:sldId id="263" r:id="rId18"/>
    <p:sldId id="270" r:id="rId19"/>
    <p:sldId id="27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C6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160EA64-D806-43AC-9DF2-F8C432F32B4C}" type="datetimeFigureOut">
              <a:rPr lang="en-US" smtClean="0"/>
              <a:t>4/8/2025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8A7A6979-0714-4377-B894-6BE4C2D6E202}"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4626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070A7B3-6521-4DCA-87E5-044747A908C1}" type="datetimeFigureOut">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816189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14803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B134690-1557-4C89-A502-4959FE7FAD70}" type="datetimeFigureOut">
              <a:rPr lang="en-US" smtClean="0"/>
              <a:t>4/8/2025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608140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F7D4976-E339-4826-83B7-FBD03F55ECF8}" type="datetimeFigureOut">
              <a:rPr lang="en-US" smtClean="0"/>
              <a:t>4/8/2025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203212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4/8/2025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10413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4/8/2025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979367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1BE4249-C0D0-4B06-8692-E8BB871AF643}" type="datetimeFigureOut">
              <a:rPr lang="en-US" smtClean="0"/>
              <a:t>4/8/2025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013514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4/8/2025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105430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13094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smtClean="0"/>
              <a:t>4/8/2025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09621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160EA64-D806-43AC-9DF2-F8C432F32B4C}" type="datetimeFigureOut">
              <a:rPr lang="en-US" smtClean="0"/>
              <a:t>4/8/2025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037019491"/>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4987" y="2316480"/>
            <a:ext cx="10217331" cy="1296982"/>
          </a:xfrm>
        </p:spPr>
        <p:txBody>
          <a:bodyPr/>
          <a:lstStyle/>
          <a:p>
            <a:r>
              <a:rPr lang="en-US" dirty="0" smtClean="0"/>
              <a:t>Adapter Design Pattern</a:t>
            </a:r>
            <a:endParaRPr lang="en-IN" dirty="0"/>
          </a:p>
        </p:txBody>
      </p:sp>
      <p:sp>
        <p:nvSpPr>
          <p:cNvPr id="3" name="Subtitle 2"/>
          <p:cNvSpPr>
            <a:spLocks noGrp="1"/>
          </p:cNvSpPr>
          <p:nvPr>
            <p:ph type="subTitle" idx="1"/>
          </p:nvPr>
        </p:nvSpPr>
        <p:spPr>
          <a:xfrm>
            <a:off x="600892" y="5452642"/>
            <a:ext cx="4902925" cy="1239894"/>
          </a:xfrm>
        </p:spPr>
        <p:txBody>
          <a:bodyPr>
            <a:normAutofit fontScale="92500" lnSpcReduction="20000"/>
          </a:bodyPr>
          <a:lstStyle/>
          <a:p>
            <a:pPr algn="l"/>
            <a:r>
              <a:rPr lang="en-US" b="1" dirty="0" smtClean="0">
                <a:solidFill>
                  <a:schemeClr val="tx1"/>
                </a:solidFill>
              </a:rPr>
              <a:t>Presented by –</a:t>
            </a:r>
          </a:p>
          <a:p>
            <a:pPr algn="l"/>
            <a:r>
              <a:rPr lang="en-US" b="1" dirty="0" smtClean="0">
                <a:solidFill>
                  <a:schemeClr val="tx1"/>
                </a:solidFill>
              </a:rPr>
              <a:t>Rathod Krutarth(240160510040)</a:t>
            </a:r>
          </a:p>
          <a:p>
            <a:pPr algn="l"/>
            <a:r>
              <a:rPr lang="en-US" b="1" dirty="0" smtClean="0">
                <a:solidFill>
                  <a:schemeClr val="tx1"/>
                </a:solidFill>
              </a:rPr>
              <a:t>Senghani Riya(240160510045)</a:t>
            </a:r>
            <a:endParaRPr lang="en-IN" b="1" dirty="0">
              <a:solidFill>
                <a:schemeClr val="tx1"/>
              </a:solidFill>
            </a:endParaRPr>
          </a:p>
        </p:txBody>
      </p:sp>
    </p:spTree>
    <p:extLst>
      <p:ext uri="{BB962C8B-B14F-4D97-AF65-F5344CB8AC3E}">
        <p14:creationId xmlns:p14="http://schemas.microsoft.com/office/powerpoint/2010/main" val="16094083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8970" y="0"/>
            <a:ext cx="2525488" cy="740229"/>
          </a:xfrm>
        </p:spPr>
        <p:txBody>
          <a:bodyPr/>
          <a:lstStyle/>
          <a:p>
            <a:r>
              <a:rPr lang="en-IN" sz="4800" u="sng" dirty="0"/>
              <a:t>Problem</a:t>
            </a:r>
            <a:endParaRPr lang="en-IN" sz="6000" u="sng" dirty="0"/>
          </a:p>
        </p:txBody>
      </p:sp>
      <p:sp>
        <p:nvSpPr>
          <p:cNvPr id="3" name="Subtitle 2"/>
          <p:cNvSpPr>
            <a:spLocks noGrp="1"/>
          </p:cNvSpPr>
          <p:nvPr>
            <p:ph type="subTitle" idx="1"/>
          </p:nvPr>
        </p:nvSpPr>
        <p:spPr>
          <a:xfrm>
            <a:off x="884999" y="1045031"/>
            <a:ext cx="10923527" cy="1239894"/>
          </a:xfrm>
        </p:spPr>
        <p:txBody>
          <a:bodyPr>
            <a:normAutofit lnSpcReduction="10000"/>
          </a:bodyPr>
          <a:lstStyle/>
          <a:p>
            <a:pPr algn="just"/>
            <a:r>
              <a:rPr lang="en-US" b="1" dirty="0">
                <a:solidFill>
                  <a:schemeClr val="tx1"/>
                </a:solidFill>
              </a:rPr>
              <a:t>You have a mobile phone that you want to connect to a pendrive, but they have incompatible interfaces. The mobile phone has a USB-C or Micro-USB port, while the pendrive has a USB-A connector. Directly connecting them is not possible.</a:t>
            </a:r>
            <a:endParaRPr lang="en-IN" b="1" dirty="0">
              <a:solidFill>
                <a:schemeClr val="tx1"/>
              </a:solidFill>
            </a:endParaRPr>
          </a:p>
        </p:txBody>
      </p:sp>
      <p:grpSp>
        <p:nvGrpSpPr>
          <p:cNvPr id="8" name="Group 7"/>
          <p:cNvGrpSpPr/>
          <p:nvPr/>
        </p:nvGrpSpPr>
        <p:grpSpPr>
          <a:xfrm>
            <a:off x="884999" y="2740957"/>
            <a:ext cx="5249111" cy="3859102"/>
            <a:chOff x="884999" y="2784500"/>
            <a:chExt cx="5249111" cy="3859102"/>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999" y="2784500"/>
              <a:ext cx="5249111" cy="3859102"/>
            </a:xfrm>
            <a:prstGeom prst="rect">
              <a:avLst/>
            </a:prstGeom>
          </p:spPr>
        </p:pic>
        <p:cxnSp>
          <p:nvCxnSpPr>
            <p:cNvPr id="6" name="Curved Connector 5"/>
            <p:cNvCxnSpPr/>
            <p:nvPr/>
          </p:nvCxnSpPr>
          <p:spPr>
            <a:xfrm flipV="1">
              <a:off x="2873829" y="3640183"/>
              <a:ext cx="1898468" cy="957944"/>
            </a:xfrm>
            <a:prstGeom prst="curvedConnector3">
              <a:avLst/>
            </a:prstGeom>
            <a:ln w="38100">
              <a:solidFill>
                <a:schemeClr val="tx1">
                  <a:alpha val="95000"/>
                </a:schemeClr>
              </a:solidFill>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20524190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8970" y="0"/>
            <a:ext cx="2525488" cy="740229"/>
          </a:xfrm>
        </p:spPr>
        <p:txBody>
          <a:bodyPr/>
          <a:lstStyle/>
          <a:p>
            <a:r>
              <a:rPr lang="en-IN" sz="4800" u="sng" dirty="0"/>
              <a:t>Problem</a:t>
            </a:r>
            <a:endParaRPr lang="en-IN" sz="6000" u="sng" dirty="0"/>
          </a:p>
        </p:txBody>
      </p:sp>
      <p:sp>
        <p:nvSpPr>
          <p:cNvPr id="3" name="Subtitle 2"/>
          <p:cNvSpPr>
            <a:spLocks noGrp="1"/>
          </p:cNvSpPr>
          <p:nvPr>
            <p:ph type="subTitle" idx="1"/>
          </p:nvPr>
        </p:nvSpPr>
        <p:spPr>
          <a:xfrm>
            <a:off x="884999" y="1045031"/>
            <a:ext cx="10923527" cy="1239894"/>
          </a:xfrm>
        </p:spPr>
        <p:txBody>
          <a:bodyPr>
            <a:normAutofit lnSpcReduction="10000"/>
          </a:bodyPr>
          <a:lstStyle/>
          <a:p>
            <a:pPr algn="just"/>
            <a:r>
              <a:rPr lang="en-US" b="1" dirty="0">
                <a:solidFill>
                  <a:schemeClr val="tx1"/>
                </a:solidFill>
              </a:rPr>
              <a:t>You have a mobile phone that you want to connect to a pendrive, but they have incompatible interfaces. The mobile phone has a USB-C or Micro-USB port, while the pendrive has a USB-A connector. Directly connecting them is not possible.</a:t>
            </a:r>
            <a:endParaRPr lang="en-IN" b="1" dirty="0">
              <a:solidFill>
                <a:schemeClr val="tx1"/>
              </a:solidFill>
            </a:endParaRPr>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792" y="2924921"/>
            <a:ext cx="7065927" cy="2456976"/>
          </a:xfrm>
          <a:prstGeom prst="rect">
            <a:avLst/>
          </a:prstGeom>
        </p:spPr>
      </p:pic>
    </p:spTree>
    <p:extLst>
      <p:ext uri="{BB962C8B-B14F-4D97-AF65-F5344CB8AC3E}">
        <p14:creationId xmlns:p14="http://schemas.microsoft.com/office/powerpoint/2010/main" val="31267697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33979" y="95793"/>
            <a:ext cx="2624256" cy="762001"/>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4800" u="sng" dirty="0"/>
              <a:t>Solution</a:t>
            </a:r>
            <a:endParaRPr lang="en-IN" sz="6000" u="sng" dirty="0"/>
          </a:p>
        </p:txBody>
      </p:sp>
      <p:sp>
        <p:nvSpPr>
          <p:cNvPr id="10" name="Subtitle 2"/>
          <p:cNvSpPr txBox="1">
            <a:spLocks/>
          </p:cNvSpPr>
          <p:nvPr/>
        </p:nvSpPr>
        <p:spPr>
          <a:xfrm>
            <a:off x="914398" y="1050459"/>
            <a:ext cx="10624457" cy="115281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algn="just"/>
            <a:r>
              <a:rPr lang="en-US" b="1" dirty="0">
                <a:solidFill>
                  <a:schemeClr val="tx1"/>
                </a:solidFill>
              </a:rPr>
              <a:t>The OTG (On-The-Go) adapter serves as the adapter, enabling the mobile phone to connect to the pendrive by converting the USB-C or Micro-USB port to a USB-A port, making them </a:t>
            </a:r>
            <a:r>
              <a:rPr lang="en-US" b="1" dirty="0" smtClean="0">
                <a:solidFill>
                  <a:schemeClr val="tx1"/>
                </a:solidFill>
              </a:rPr>
              <a:t>compatible.</a:t>
            </a:r>
            <a:endParaRPr lang="en-US" b="1" dirty="0">
              <a:solidFill>
                <a:schemeClr val="tx1"/>
              </a:solidFill>
            </a:endParaRPr>
          </a:p>
        </p:txBody>
      </p:sp>
      <p:grpSp>
        <p:nvGrpSpPr>
          <p:cNvPr id="6" name="Group 5"/>
          <p:cNvGrpSpPr/>
          <p:nvPr/>
        </p:nvGrpSpPr>
        <p:grpSpPr>
          <a:xfrm>
            <a:off x="914398" y="2596729"/>
            <a:ext cx="9413040" cy="3859102"/>
            <a:chOff x="914398" y="2596729"/>
            <a:chExt cx="9413040" cy="3859102"/>
          </a:xfrm>
        </p:grpSpPr>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8" y="2596729"/>
              <a:ext cx="9413040" cy="3859102"/>
            </a:xfrm>
            <a:prstGeom prst="rect">
              <a:avLst/>
            </a:prstGeom>
          </p:spPr>
        </p:pic>
        <p:cxnSp>
          <p:nvCxnSpPr>
            <p:cNvPr id="3" name="Curved Connector 2"/>
            <p:cNvCxnSpPr/>
            <p:nvPr/>
          </p:nvCxnSpPr>
          <p:spPr>
            <a:xfrm flipV="1">
              <a:off x="3030583" y="3892731"/>
              <a:ext cx="1193074" cy="888277"/>
            </a:xfrm>
            <a:prstGeom prst="curvedConnector3">
              <a:avLst/>
            </a:prstGeom>
            <a:ln w="28575">
              <a:solidFill>
                <a:schemeClr val="tx1">
                  <a:alpha val="95000"/>
                </a:schemeClr>
              </a:solidFill>
              <a:tailEnd type="triangle"/>
            </a:ln>
          </p:spPr>
          <p:style>
            <a:lnRef idx="3">
              <a:schemeClr val="dk1"/>
            </a:lnRef>
            <a:fillRef idx="0">
              <a:schemeClr val="dk1"/>
            </a:fillRef>
            <a:effectRef idx="2">
              <a:schemeClr val="dk1"/>
            </a:effectRef>
            <a:fontRef idx="minor">
              <a:schemeClr val="tx1"/>
            </a:fontRef>
          </p:style>
        </p:cxnSp>
        <p:cxnSp>
          <p:nvCxnSpPr>
            <p:cNvPr id="8" name="Curved Connector 7"/>
            <p:cNvCxnSpPr/>
            <p:nvPr/>
          </p:nvCxnSpPr>
          <p:spPr>
            <a:xfrm flipV="1">
              <a:off x="7720148" y="3892731"/>
              <a:ext cx="1193074" cy="888277"/>
            </a:xfrm>
            <a:prstGeom prst="curvedConnector3">
              <a:avLst/>
            </a:prstGeom>
            <a:ln w="28575">
              <a:solidFill>
                <a:schemeClr val="tx1">
                  <a:alpha val="95000"/>
                </a:schemeClr>
              </a:solidFill>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33892556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33979" y="95793"/>
            <a:ext cx="2624256" cy="762001"/>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4800" u="sng" dirty="0"/>
              <a:t>Solution</a:t>
            </a:r>
            <a:endParaRPr lang="en-IN" sz="6000" u="sng" dirty="0"/>
          </a:p>
        </p:txBody>
      </p:sp>
      <p:sp>
        <p:nvSpPr>
          <p:cNvPr id="10" name="Subtitle 2"/>
          <p:cNvSpPr txBox="1">
            <a:spLocks/>
          </p:cNvSpPr>
          <p:nvPr/>
        </p:nvSpPr>
        <p:spPr>
          <a:xfrm>
            <a:off x="914398" y="1050459"/>
            <a:ext cx="10624457" cy="1152810"/>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algn="just"/>
            <a:r>
              <a:rPr lang="en-US" b="1" dirty="0">
                <a:solidFill>
                  <a:schemeClr val="tx1"/>
                </a:solidFill>
              </a:rPr>
              <a:t>The OTG (On-The-Go) adapter serves as the adapter, enabling the mobile phone to connect to the pendrive by converting the USB-C or Micro-USB port to a USB-A port, making them </a:t>
            </a:r>
            <a:r>
              <a:rPr lang="en-US" b="1" dirty="0" smtClean="0">
                <a:solidFill>
                  <a:schemeClr val="tx1"/>
                </a:solidFill>
              </a:rPr>
              <a:t>compatible.</a:t>
            </a:r>
            <a:endParaRPr lang="en-US" b="1" dirty="0">
              <a:solidFill>
                <a:schemeClr val="tx1"/>
              </a:solidFill>
            </a:endParaRP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399" y="2569030"/>
            <a:ext cx="10624456" cy="2778034"/>
          </a:xfrm>
          <a:prstGeom prst="rect">
            <a:avLst/>
          </a:prstGeom>
        </p:spPr>
      </p:pic>
    </p:spTree>
    <p:extLst>
      <p:ext uri="{BB962C8B-B14F-4D97-AF65-F5344CB8AC3E}">
        <p14:creationId xmlns:p14="http://schemas.microsoft.com/office/powerpoint/2010/main" val="11784920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3197" y="155681"/>
            <a:ext cx="7167157" cy="966652"/>
          </a:xfrm>
        </p:spPr>
        <p:txBody>
          <a:bodyPr anchor="ctr">
            <a:normAutofit fontScale="90000"/>
          </a:bodyPr>
          <a:lstStyle/>
          <a:p>
            <a:pPr algn="ctr"/>
            <a:r>
              <a:rPr lang="en-IN" sz="4800" b="1" u="sng" dirty="0" smtClean="0"/>
              <a:t>Adapter Design Pattern</a:t>
            </a:r>
            <a:endParaRPr lang="en-IN" sz="6000" b="1" u="sng" dirty="0"/>
          </a:p>
        </p:txBody>
      </p:sp>
      <p:sp>
        <p:nvSpPr>
          <p:cNvPr id="10" name="Subtitle 2"/>
          <p:cNvSpPr txBox="1">
            <a:spLocks/>
          </p:cNvSpPr>
          <p:nvPr/>
        </p:nvSpPr>
        <p:spPr>
          <a:xfrm>
            <a:off x="1014546" y="1555555"/>
            <a:ext cx="10624457" cy="2659393"/>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marL="342900" indent="-342900" algn="just">
              <a:buClr>
                <a:schemeClr val="tx1"/>
              </a:buClr>
              <a:buSzPct val="120000"/>
              <a:buFont typeface="Arial" panose="020B0604020202020204" pitchFamily="34" charset="0"/>
              <a:buChar char="•"/>
            </a:pPr>
            <a:r>
              <a:rPr lang="en-US" sz="2400" b="1" dirty="0">
                <a:solidFill>
                  <a:schemeClr val="tx1"/>
                </a:solidFill>
              </a:rPr>
              <a:t>The Adapter design pattern is a structural </a:t>
            </a:r>
            <a:r>
              <a:rPr lang="en-US" sz="2400" b="1" dirty="0" smtClean="0">
                <a:solidFill>
                  <a:schemeClr val="tx1"/>
                </a:solidFill>
              </a:rPr>
              <a:t>pattern.</a:t>
            </a:r>
          </a:p>
          <a:p>
            <a:pPr marL="342900" indent="-342900" algn="just">
              <a:buClr>
                <a:schemeClr val="tx1"/>
              </a:buClr>
              <a:buSzPct val="120000"/>
              <a:buFont typeface="Arial" panose="020B0604020202020204" pitchFamily="34" charset="0"/>
              <a:buChar char="•"/>
            </a:pPr>
            <a:r>
              <a:rPr lang="en-US" sz="2400" b="1" dirty="0" smtClean="0">
                <a:solidFill>
                  <a:schemeClr val="tx1"/>
                </a:solidFill>
              </a:rPr>
              <a:t>It allows </a:t>
            </a:r>
            <a:r>
              <a:rPr lang="en-US" sz="2400" b="1" dirty="0">
                <a:solidFill>
                  <a:schemeClr val="tx1"/>
                </a:solidFill>
              </a:rPr>
              <a:t>incompatible interfaces to work together by converting the interface of one class (the "adaptee") into another interface that clients expect (the "target"). </a:t>
            </a:r>
            <a:endParaRPr lang="en-US" sz="2400" b="1" dirty="0" smtClean="0">
              <a:solidFill>
                <a:schemeClr val="tx1"/>
              </a:solidFill>
            </a:endParaRPr>
          </a:p>
          <a:p>
            <a:pPr marL="342900" indent="-342900" algn="just">
              <a:buClr>
                <a:schemeClr val="tx1"/>
              </a:buClr>
              <a:buSzPct val="120000"/>
              <a:buFont typeface="Arial" panose="020B0604020202020204" pitchFamily="34" charset="0"/>
              <a:buChar char="•"/>
            </a:pPr>
            <a:r>
              <a:rPr lang="en-US" sz="2400" b="1" dirty="0" smtClean="0">
                <a:solidFill>
                  <a:schemeClr val="tx1"/>
                </a:solidFill>
              </a:rPr>
              <a:t>It </a:t>
            </a:r>
            <a:r>
              <a:rPr lang="en-US" sz="2400" b="1" dirty="0">
                <a:solidFill>
                  <a:schemeClr val="tx1"/>
                </a:solidFill>
              </a:rPr>
              <a:t>essentially acts as a bridge, enabling classes with different interfaces to collaborate. </a:t>
            </a:r>
          </a:p>
        </p:txBody>
      </p:sp>
    </p:spTree>
    <p:extLst>
      <p:ext uri="{BB962C8B-B14F-4D97-AF65-F5344CB8AC3E}">
        <p14:creationId xmlns:p14="http://schemas.microsoft.com/office/powerpoint/2010/main" val="37920317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0864" y="556275"/>
            <a:ext cx="8290563" cy="966652"/>
          </a:xfrm>
        </p:spPr>
        <p:txBody>
          <a:bodyPr anchor="ctr">
            <a:noAutofit/>
          </a:bodyPr>
          <a:lstStyle/>
          <a:p>
            <a:pPr algn="ctr"/>
            <a:r>
              <a:rPr lang="en-US" sz="3600" b="1" u="sng" dirty="0" smtClean="0"/>
              <a:t>Why </a:t>
            </a:r>
            <a:r>
              <a:rPr lang="en-US" sz="3600" b="1" u="sng" dirty="0"/>
              <a:t>the Adapter Design Pattern a Structural Pattern?</a:t>
            </a:r>
            <a:endParaRPr lang="en-IN" sz="4400" b="1" u="sng" dirty="0"/>
          </a:p>
        </p:txBody>
      </p:sp>
      <p:sp>
        <p:nvSpPr>
          <p:cNvPr id="10" name="Subtitle 2"/>
          <p:cNvSpPr txBox="1">
            <a:spLocks/>
          </p:cNvSpPr>
          <p:nvPr/>
        </p:nvSpPr>
        <p:spPr>
          <a:xfrm>
            <a:off x="883918" y="2374161"/>
            <a:ext cx="10624457" cy="2911943"/>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marL="342900" indent="-342900" algn="just">
              <a:buClr>
                <a:schemeClr val="tx1"/>
              </a:buClr>
              <a:buSzPct val="120000"/>
              <a:buFont typeface="Arial" panose="020B0604020202020204" pitchFamily="34" charset="0"/>
              <a:buChar char="•"/>
            </a:pPr>
            <a:r>
              <a:rPr lang="en-US" sz="2400" b="1" dirty="0">
                <a:solidFill>
                  <a:schemeClr val="tx1"/>
                </a:solidFill>
              </a:rPr>
              <a:t>The Adapter Design Pattern is a structural pattern because it focuses on the structure of the system by connecting two incompatible interfaces without modifying their existing code</a:t>
            </a:r>
            <a:r>
              <a:rPr lang="en-US" sz="2400" b="1" dirty="0" smtClean="0">
                <a:solidFill>
                  <a:schemeClr val="tx1"/>
                </a:solidFill>
              </a:rPr>
              <a:t>.</a:t>
            </a:r>
          </a:p>
          <a:p>
            <a:pPr marL="342900" indent="-342900" algn="just">
              <a:buClr>
                <a:schemeClr val="tx1"/>
              </a:buClr>
              <a:buSzPct val="120000"/>
              <a:buFont typeface="Arial" panose="020B0604020202020204" pitchFamily="34" charset="0"/>
              <a:buChar char="•"/>
            </a:pPr>
            <a:r>
              <a:rPr lang="en-IN" sz="2400" b="1" dirty="0">
                <a:solidFill>
                  <a:schemeClr val="tx1"/>
                </a:solidFill>
              </a:rPr>
              <a:t>Key Reasons</a:t>
            </a:r>
            <a:r>
              <a:rPr lang="en-IN" sz="2400" b="1" dirty="0" smtClean="0">
                <a:solidFill>
                  <a:schemeClr val="tx1"/>
                </a:solidFill>
              </a:rPr>
              <a:t>:</a:t>
            </a:r>
            <a:endParaRPr lang="en-IN" sz="2400" b="1" dirty="0">
              <a:solidFill>
                <a:schemeClr val="tx1"/>
              </a:solidFill>
            </a:endParaRPr>
          </a:p>
          <a:p>
            <a:pPr marL="1257300" lvl="2" indent="-342900" algn="just">
              <a:buClr>
                <a:schemeClr val="tx1"/>
              </a:buClr>
              <a:buSzPct val="120000"/>
              <a:buFont typeface="Arial" panose="020B0604020202020204" pitchFamily="34" charset="0"/>
              <a:buChar char="•"/>
            </a:pPr>
            <a:r>
              <a:rPr lang="en-IN" sz="2000" b="1" dirty="0">
                <a:solidFill>
                  <a:schemeClr val="tx1"/>
                </a:solidFill>
              </a:rPr>
              <a:t>Connects Different </a:t>
            </a:r>
            <a:r>
              <a:rPr lang="en-IN" sz="2000" b="1" dirty="0" smtClean="0">
                <a:solidFill>
                  <a:schemeClr val="tx1"/>
                </a:solidFill>
              </a:rPr>
              <a:t>Structures</a:t>
            </a:r>
          </a:p>
          <a:p>
            <a:pPr marL="1257300" lvl="2" indent="-342900" algn="just">
              <a:buClr>
                <a:schemeClr val="tx1"/>
              </a:buClr>
              <a:buSzPct val="120000"/>
              <a:buFont typeface="Arial" panose="020B0604020202020204" pitchFamily="34" charset="0"/>
              <a:buChar char="•"/>
            </a:pPr>
            <a:r>
              <a:rPr lang="en-US" sz="2000" b="1" dirty="0">
                <a:solidFill>
                  <a:schemeClr val="tx1"/>
                </a:solidFill>
              </a:rPr>
              <a:t>Does Not Change Original </a:t>
            </a:r>
            <a:r>
              <a:rPr lang="en-US" sz="2000" b="1" dirty="0" smtClean="0">
                <a:solidFill>
                  <a:schemeClr val="tx1"/>
                </a:solidFill>
              </a:rPr>
              <a:t>Classes</a:t>
            </a:r>
          </a:p>
          <a:p>
            <a:pPr marL="1257300" lvl="2" indent="-342900" algn="just">
              <a:buClr>
                <a:schemeClr val="tx1"/>
              </a:buClr>
              <a:buSzPct val="120000"/>
              <a:buFont typeface="Arial" panose="020B0604020202020204" pitchFamily="34" charset="0"/>
              <a:buChar char="•"/>
            </a:pPr>
            <a:r>
              <a:rPr lang="en-IN" sz="2000" b="1" dirty="0">
                <a:solidFill>
                  <a:schemeClr val="tx1"/>
                </a:solidFill>
              </a:rPr>
              <a:t>Follows Open/Closed Principle</a:t>
            </a:r>
            <a:endParaRPr lang="en-US" sz="2000" b="1" dirty="0">
              <a:solidFill>
                <a:schemeClr val="tx1"/>
              </a:solidFill>
            </a:endParaRPr>
          </a:p>
        </p:txBody>
      </p:sp>
    </p:spTree>
    <p:extLst>
      <p:ext uri="{BB962C8B-B14F-4D97-AF65-F5344CB8AC3E}">
        <p14:creationId xmlns:p14="http://schemas.microsoft.com/office/powerpoint/2010/main" val="15500727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099" y="104505"/>
            <a:ext cx="2081350" cy="747865"/>
          </a:xfrm>
        </p:spPr>
        <p:txBody>
          <a:bodyPr/>
          <a:lstStyle/>
          <a:p>
            <a:r>
              <a:rPr lang="en-IN" sz="4800" u="sng" dirty="0"/>
              <a:t>Intent</a:t>
            </a:r>
            <a:endParaRPr lang="en-IN" sz="6000" u="sng" dirty="0"/>
          </a:p>
        </p:txBody>
      </p:sp>
      <p:sp>
        <p:nvSpPr>
          <p:cNvPr id="3" name="Subtitle 2"/>
          <p:cNvSpPr>
            <a:spLocks noGrp="1"/>
          </p:cNvSpPr>
          <p:nvPr>
            <p:ph type="subTitle" idx="1"/>
          </p:nvPr>
        </p:nvSpPr>
        <p:spPr>
          <a:xfrm>
            <a:off x="714099" y="1297581"/>
            <a:ext cx="10624457" cy="896980"/>
          </a:xfrm>
        </p:spPr>
        <p:txBody>
          <a:bodyPr>
            <a:normAutofit/>
          </a:bodyPr>
          <a:lstStyle/>
          <a:p>
            <a:pPr algn="just"/>
            <a:r>
              <a:rPr lang="en-US" b="1" dirty="0">
                <a:solidFill>
                  <a:schemeClr val="tx1"/>
                </a:solidFill>
              </a:rPr>
              <a:t>Adapter is a structural design pattern that allows objects with incompatible interfaces to collaborate.</a:t>
            </a:r>
            <a:endParaRPr lang="en-IN" b="1" dirty="0">
              <a:solidFill>
                <a:schemeClr val="tx1"/>
              </a:solidFill>
            </a:endParaRPr>
          </a:p>
        </p:txBody>
      </p:sp>
      <p:sp>
        <p:nvSpPr>
          <p:cNvPr id="4" name="Title 1"/>
          <p:cNvSpPr txBox="1">
            <a:spLocks/>
          </p:cNvSpPr>
          <p:nvPr/>
        </p:nvSpPr>
        <p:spPr>
          <a:xfrm>
            <a:off x="714099" y="2639772"/>
            <a:ext cx="3413760" cy="722811"/>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4800" u="sng" dirty="0"/>
              <a:t>Motivation</a:t>
            </a:r>
            <a:endParaRPr lang="en-IN" sz="6000" u="sng" dirty="0"/>
          </a:p>
        </p:txBody>
      </p:sp>
      <p:sp>
        <p:nvSpPr>
          <p:cNvPr id="10" name="Subtitle 2"/>
          <p:cNvSpPr txBox="1">
            <a:spLocks/>
          </p:cNvSpPr>
          <p:nvPr/>
        </p:nvSpPr>
        <p:spPr>
          <a:xfrm>
            <a:off x="714099" y="3807794"/>
            <a:ext cx="11077306" cy="27062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algn="just"/>
            <a:r>
              <a:rPr lang="en-US" b="1" dirty="0">
                <a:solidFill>
                  <a:schemeClr val="tx1"/>
                </a:solidFill>
              </a:rPr>
              <a:t>Imagine an old application that exchanges data using XML format, but a new application is designed to use JSON because it is lightweight and easier to parse. Direct communication between these systems is not possible due to their differing data formats. Instead of modifying the old application, which could be complex and risky, an Adapter can be introduced. This Adapter acts as a bridge, converting XML requests into JSON format and vice versa, allowing seamless communication between the two systems without altering their core implementations.</a:t>
            </a:r>
          </a:p>
        </p:txBody>
      </p:sp>
    </p:spTree>
    <p:extLst>
      <p:ext uri="{BB962C8B-B14F-4D97-AF65-F5344CB8AC3E}">
        <p14:creationId xmlns:p14="http://schemas.microsoft.com/office/powerpoint/2010/main" val="2492238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4434" y="121920"/>
            <a:ext cx="5286106" cy="966652"/>
          </a:xfrm>
        </p:spPr>
        <p:txBody>
          <a:bodyPr anchor="ctr">
            <a:noAutofit/>
          </a:bodyPr>
          <a:lstStyle/>
          <a:p>
            <a:pPr algn="ctr"/>
            <a:r>
              <a:rPr lang="en-IN" sz="4000" b="1" u="sng" dirty="0" smtClean="0"/>
              <a:t>Structure Diagram</a:t>
            </a:r>
            <a:endParaRPr lang="en-IN" sz="4800" b="1" u="sng"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189" y="1280160"/>
            <a:ext cx="11059885" cy="5303520"/>
          </a:xfrm>
          <a:prstGeom prst="rect">
            <a:avLst/>
          </a:prstGeom>
        </p:spPr>
      </p:pic>
    </p:spTree>
    <p:extLst>
      <p:ext uri="{BB962C8B-B14F-4D97-AF65-F5344CB8AC3E}">
        <p14:creationId xmlns:p14="http://schemas.microsoft.com/office/powerpoint/2010/main" val="39547148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2150" y="-104501"/>
            <a:ext cx="3997237" cy="966652"/>
          </a:xfrm>
        </p:spPr>
        <p:txBody>
          <a:bodyPr anchor="ctr">
            <a:noAutofit/>
          </a:bodyPr>
          <a:lstStyle/>
          <a:p>
            <a:pPr algn="ctr"/>
            <a:r>
              <a:rPr lang="en-IN" sz="4000" b="1" u="sng" dirty="0" smtClean="0"/>
              <a:t>Class Diagram</a:t>
            </a:r>
            <a:endParaRPr lang="en-IN" sz="4800" b="1" u="sng"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150" y="862151"/>
            <a:ext cx="10877004" cy="5721529"/>
          </a:xfrm>
          <a:prstGeom prst="rect">
            <a:avLst/>
          </a:prstGeom>
        </p:spPr>
      </p:pic>
    </p:spTree>
    <p:extLst>
      <p:ext uri="{BB962C8B-B14F-4D97-AF65-F5344CB8AC3E}">
        <p14:creationId xmlns:p14="http://schemas.microsoft.com/office/powerpoint/2010/main" val="12951916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6390" y="0"/>
            <a:ext cx="7785461" cy="966652"/>
          </a:xfrm>
        </p:spPr>
        <p:txBody>
          <a:bodyPr anchor="ctr">
            <a:noAutofit/>
          </a:bodyPr>
          <a:lstStyle/>
          <a:p>
            <a:pPr algn="ctr"/>
            <a:r>
              <a:rPr lang="en-US" sz="4000" b="1" u="sng" dirty="0" smtClean="0"/>
              <a:t>Participants and Their Role</a:t>
            </a:r>
            <a:endParaRPr lang="en-IN" sz="4800" b="1" u="sng" dirty="0"/>
          </a:p>
        </p:txBody>
      </p:sp>
      <p:graphicFrame>
        <p:nvGraphicFramePr>
          <p:cNvPr id="4" name="Table 3"/>
          <p:cNvGraphicFramePr>
            <a:graphicFrameLocks noGrp="1"/>
          </p:cNvGraphicFramePr>
          <p:nvPr>
            <p:extLst>
              <p:ext uri="{D42A27DB-BD31-4B8C-83A1-F6EECF244321}">
                <p14:modId xmlns:p14="http://schemas.microsoft.com/office/powerpoint/2010/main" val="922419407"/>
              </p:ext>
            </p:extLst>
          </p:nvPr>
        </p:nvGraphicFramePr>
        <p:xfrm>
          <a:off x="804092" y="966652"/>
          <a:ext cx="10987315" cy="5726196"/>
        </p:xfrm>
        <a:graphic>
          <a:graphicData uri="http://schemas.openxmlformats.org/drawingml/2006/table">
            <a:tbl>
              <a:tblPr firstRow="1" bandRow="1">
                <a:tableStyleId>{5C22544A-7EE6-4342-B048-85BDC9FD1C3A}</a:tableStyleId>
              </a:tblPr>
              <a:tblGrid>
                <a:gridCol w="2268095">
                  <a:extLst>
                    <a:ext uri="{9D8B030D-6E8A-4147-A177-3AD203B41FA5}">
                      <a16:colId xmlns:a16="http://schemas.microsoft.com/office/drawing/2014/main" val="300636324"/>
                    </a:ext>
                  </a:extLst>
                </a:gridCol>
                <a:gridCol w="2966576">
                  <a:extLst>
                    <a:ext uri="{9D8B030D-6E8A-4147-A177-3AD203B41FA5}">
                      <a16:colId xmlns:a16="http://schemas.microsoft.com/office/drawing/2014/main" val="972606535"/>
                    </a:ext>
                  </a:extLst>
                </a:gridCol>
                <a:gridCol w="5752644">
                  <a:extLst>
                    <a:ext uri="{9D8B030D-6E8A-4147-A177-3AD203B41FA5}">
                      <a16:colId xmlns:a16="http://schemas.microsoft.com/office/drawing/2014/main" val="3713605475"/>
                    </a:ext>
                  </a:extLst>
                </a:gridCol>
              </a:tblGrid>
              <a:tr h="800877">
                <a:tc>
                  <a:txBody>
                    <a:bodyPr/>
                    <a:lstStyle/>
                    <a:p>
                      <a:pPr algn="ctr"/>
                      <a:r>
                        <a:rPr lang="en-IN" sz="2400" b="1" dirty="0" smtClean="0">
                          <a:solidFill>
                            <a:schemeClr val="tx1"/>
                          </a:solidFill>
                          <a:latin typeface="Candara" panose="020E0502030303020204" pitchFamily="34" charset="0"/>
                        </a:rPr>
                        <a:t>Participant</a:t>
                      </a:r>
                      <a:endParaRPr lang="en-IN" sz="2400" b="1" dirty="0">
                        <a:solidFill>
                          <a:schemeClr val="tx1"/>
                        </a:solidFill>
                        <a:latin typeface="Candara" panose="020E0502030303020204" pitchFamily="34" charset="0"/>
                      </a:endParaRPr>
                    </a:p>
                  </a:txBody>
                  <a:tcPr anchor="ctr"/>
                </a:tc>
                <a:tc>
                  <a:txBody>
                    <a:bodyPr/>
                    <a:lstStyle/>
                    <a:p>
                      <a:pPr algn="ctr"/>
                      <a:r>
                        <a:rPr lang="en-IN" sz="2400" b="1" dirty="0" smtClean="0">
                          <a:solidFill>
                            <a:schemeClr val="tx1"/>
                          </a:solidFill>
                          <a:latin typeface="Candara" panose="020E0502030303020204" pitchFamily="34" charset="0"/>
                        </a:rPr>
                        <a:t>Class/Interface in Example</a:t>
                      </a:r>
                      <a:endParaRPr lang="en-IN" sz="2400" b="1" dirty="0">
                        <a:solidFill>
                          <a:schemeClr val="tx1"/>
                        </a:solidFill>
                        <a:latin typeface="Candara" panose="020E0502030303020204" pitchFamily="34" charset="0"/>
                      </a:endParaRPr>
                    </a:p>
                  </a:txBody>
                  <a:tcPr anchor="ctr"/>
                </a:tc>
                <a:tc>
                  <a:txBody>
                    <a:bodyPr/>
                    <a:lstStyle/>
                    <a:p>
                      <a:pPr algn="ctr"/>
                      <a:r>
                        <a:rPr lang="en-IN" sz="2400" b="1" dirty="0" smtClean="0">
                          <a:solidFill>
                            <a:schemeClr val="tx1"/>
                          </a:solidFill>
                          <a:latin typeface="Candara" panose="020E0502030303020204" pitchFamily="34" charset="0"/>
                        </a:rPr>
                        <a:t>Role</a:t>
                      </a:r>
                      <a:endParaRPr lang="en-IN" sz="2400" b="1" dirty="0">
                        <a:solidFill>
                          <a:schemeClr val="tx1"/>
                        </a:solidFill>
                        <a:latin typeface="Candara" panose="020E0502030303020204" pitchFamily="34" charset="0"/>
                      </a:endParaRPr>
                    </a:p>
                  </a:txBody>
                  <a:tcPr anchor="ctr"/>
                </a:tc>
                <a:extLst>
                  <a:ext uri="{0D108BD9-81ED-4DB2-BD59-A6C34878D82A}">
                    <a16:rowId xmlns:a16="http://schemas.microsoft.com/office/drawing/2014/main" val="4233804147"/>
                  </a:ext>
                </a:extLst>
              </a:tr>
              <a:tr h="800877">
                <a:tc>
                  <a:txBody>
                    <a:bodyPr/>
                    <a:lstStyle/>
                    <a:p>
                      <a:pPr algn="l"/>
                      <a:r>
                        <a:rPr lang="en-IN" b="1" dirty="0" smtClean="0">
                          <a:latin typeface="Candara" panose="020E0502030303020204" pitchFamily="34" charset="0"/>
                        </a:rPr>
                        <a:t>Target</a:t>
                      </a:r>
                      <a:endParaRPr lang="en-IN" b="1" dirty="0">
                        <a:latin typeface="Candara" panose="020E0502030303020204" pitchFamily="34" charset="0"/>
                      </a:endParaRPr>
                    </a:p>
                  </a:txBody>
                  <a:tcPr anchor="ctr"/>
                </a:tc>
                <a:tc>
                  <a:txBody>
                    <a:bodyPr/>
                    <a:lstStyle/>
                    <a:p>
                      <a:pPr algn="l"/>
                      <a:r>
                        <a:rPr lang="en-IN" b="1" dirty="0" smtClean="0">
                          <a:latin typeface="Candara" panose="020E0502030303020204" pitchFamily="34" charset="0"/>
                        </a:rPr>
                        <a:t>JSONData (Interface)</a:t>
                      </a:r>
                      <a:endParaRPr lang="en-IN" b="1" dirty="0">
                        <a:latin typeface="Candara" panose="020E0502030303020204" pitchFamily="34" charset="0"/>
                      </a:endParaRPr>
                    </a:p>
                  </a:txBody>
                  <a:tcPr anchor="ctr"/>
                </a:tc>
                <a:tc>
                  <a:txBody>
                    <a:bodyPr/>
                    <a:lstStyle/>
                    <a:p>
                      <a:pPr algn="just"/>
                      <a:r>
                        <a:rPr lang="en-US" b="1" dirty="0" smtClean="0">
                          <a:latin typeface="Candara" panose="020E0502030303020204" pitchFamily="34" charset="0"/>
                        </a:rPr>
                        <a:t>The </a:t>
                      </a:r>
                      <a:r>
                        <a:rPr lang="en-US" b="1" dirty="0" smtClean="0">
                          <a:solidFill>
                            <a:srgbClr val="C00000"/>
                          </a:solidFill>
                          <a:latin typeface="Candara" panose="020E0502030303020204" pitchFamily="34" charset="0"/>
                        </a:rPr>
                        <a:t>interface</a:t>
                      </a:r>
                      <a:r>
                        <a:rPr lang="en-US" b="1" dirty="0" smtClean="0">
                          <a:latin typeface="Candara" panose="020E0502030303020204" pitchFamily="34" charset="0"/>
                        </a:rPr>
                        <a:t> sought by the client. It defines </a:t>
                      </a:r>
                      <a:r>
                        <a:rPr lang="en-US" b="1" dirty="0" smtClean="0">
                          <a:solidFill>
                            <a:schemeClr val="bg1"/>
                          </a:solidFill>
                          <a:latin typeface="Candara" panose="020E0502030303020204" pitchFamily="34" charset="0"/>
                        </a:rPr>
                        <a:t>readJSONData()</a:t>
                      </a:r>
                      <a:r>
                        <a:rPr lang="en-US" b="1" dirty="0" smtClean="0">
                          <a:solidFill>
                            <a:srgbClr val="C00000"/>
                          </a:solidFill>
                          <a:latin typeface="Candara" panose="020E0502030303020204" pitchFamily="34" charset="0"/>
                        </a:rPr>
                        <a:t> </a:t>
                      </a:r>
                      <a:r>
                        <a:rPr lang="en-US" b="1" dirty="0" smtClean="0">
                          <a:latin typeface="Candara" panose="020E0502030303020204" pitchFamily="34" charset="0"/>
                        </a:rPr>
                        <a:t>, which the </a:t>
                      </a:r>
                      <a:r>
                        <a:rPr lang="en-US" b="1" dirty="0" smtClean="0">
                          <a:solidFill>
                            <a:srgbClr val="C00000"/>
                          </a:solidFill>
                          <a:latin typeface="Candara" panose="020E0502030303020204" pitchFamily="34" charset="0"/>
                        </a:rPr>
                        <a:t>client expects to use</a:t>
                      </a:r>
                      <a:r>
                        <a:rPr lang="en-US" b="1" dirty="0" smtClean="0">
                          <a:latin typeface="Candara" panose="020E0502030303020204" pitchFamily="34" charset="0"/>
                        </a:rPr>
                        <a:t>.</a:t>
                      </a:r>
                      <a:endParaRPr lang="en-IN" b="1" dirty="0">
                        <a:latin typeface="Candara" panose="020E0502030303020204" pitchFamily="34" charset="0"/>
                      </a:endParaRPr>
                    </a:p>
                  </a:txBody>
                  <a:tcPr anchor="ctr"/>
                </a:tc>
                <a:extLst>
                  <a:ext uri="{0D108BD9-81ED-4DB2-BD59-A6C34878D82A}">
                    <a16:rowId xmlns:a16="http://schemas.microsoft.com/office/drawing/2014/main" val="2601002961"/>
                  </a:ext>
                </a:extLst>
              </a:tr>
              <a:tr h="800877">
                <a:tc>
                  <a:txBody>
                    <a:bodyPr/>
                    <a:lstStyle/>
                    <a:p>
                      <a:pPr algn="l"/>
                      <a:r>
                        <a:rPr lang="en-IN" b="1" dirty="0" smtClean="0">
                          <a:latin typeface="Candara" panose="020E0502030303020204" pitchFamily="34" charset="0"/>
                        </a:rPr>
                        <a:t>Concrete Target</a:t>
                      </a:r>
                      <a:endParaRPr lang="en-IN" b="1" dirty="0">
                        <a:latin typeface="Candara" panose="020E0502030303020204" pitchFamily="34" charset="0"/>
                      </a:endParaRPr>
                    </a:p>
                  </a:txBody>
                  <a:tcPr anchor="ctr"/>
                </a:tc>
                <a:tc>
                  <a:txBody>
                    <a:bodyPr/>
                    <a:lstStyle/>
                    <a:p>
                      <a:pPr algn="l"/>
                      <a:r>
                        <a:rPr lang="en-IN" b="1" dirty="0" smtClean="0">
                          <a:latin typeface="Candara" panose="020E0502030303020204" pitchFamily="34" charset="0"/>
                        </a:rPr>
                        <a:t>JSONSoftware (Class)</a:t>
                      </a:r>
                      <a:endParaRPr lang="en-IN" b="1" dirty="0">
                        <a:latin typeface="Candara" panose="020E0502030303020204" pitchFamily="34" charset="0"/>
                      </a:endParaRPr>
                    </a:p>
                  </a:txBody>
                  <a:tcPr anchor="ctr"/>
                </a:tc>
                <a:tc>
                  <a:txBody>
                    <a:bodyPr/>
                    <a:lstStyle/>
                    <a:p>
                      <a:pPr algn="just"/>
                      <a:r>
                        <a:rPr lang="en-US" b="1" dirty="0" smtClean="0">
                          <a:latin typeface="Candara" panose="020E0502030303020204" pitchFamily="34" charset="0"/>
                        </a:rPr>
                        <a:t>A normal </a:t>
                      </a:r>
                      <a:r>
                        <a:rPr lang="en-US" b="1" dirty="0" smtClean="0">
                          <a:solidFill>
                            <a:srgbClr val="C00000"/>
                          </a:solidFill>
                          <a:latin typeface="Candara" panose="020E0502030303020204" pitchFamily="34" charset="0"/>
                        </a:rPr>
                        <a:t>implementation of JSONData</a:t>
                      </a:r>
                      <a:r>
                        <a:rPr lang="en-US" b="1" dirty="0" smtClean="0">
                          <a:latin typeface="Candara" panose="020E0502030303020204" pitchFamily="34" charset="0"/>
                        </a:rPr>
                        <a:t> that directly processes JSON data.</a:t>
                      </a:r>
                      <a:endParaRPr lang="en-IN" b="1" dirty="0">
                        <a:latin typeface="Candara" panose="020E0502030303020204" pitchFamily="34" charset="0"/>
                      </a:endParaRPr>
                    </a:p>
                  </a:txBody>
                  <a:tcPr anchor="ctr"/>
                </a:tc>
                <a:extLst>
                  <a:ext uri="{0D108BD9-81ED-4DB2-BD59-A6C34878D82A}">
                    <a16:rowId xmlns:a16="http://schemas.microsoft.com/office/drawing/2014/main" val="158791072"/>
                  </a:ext>
                </a:extLst>
              </a:tr>
              <a:tr h="800877">
                <a:tc>
                  <a:txBody>
                    <a:bodyPr/>
                    <a:lstStyle/>
                    <a:p>
                      <a:pPr algn="l"/>
                      <a:r>
                        <a:rPr lang="en-IN" b="1" dirty="0" smtClean="0">
                          <a:latin typeface="Candara" panose="020E0502030303020204" pitchFamily="34" charset="0"/>
                        </a:rPr>
                        <a:t>Adaptee</a:t>
                      </a:r>
                      <a:endParaRPr lang="en-IN" b="1" dirty="0">
                        <a:latin typeface="Candara" panose="020E0502030303020204" pitchFamily="34" charset="0"/>
                      </a:endParaRPr>
                    </a:p>
                  </a:txBody>
                  <a:tcPr anchor="ctr"/>
                </a:tc>
                <a:tc>
                  <a:txBody>
                    <a:bodyPr/>
                    <a:lstStyle/>
                    <a:p>
                      <a:pPr algn="l"/>
                      <a:r>
                        <a:rPr lang="en-IN" b="1" dirty="0" smtClean="0">
                          <a:latin typeface="Candara" panose="020E0502030303020204" pitchFamily="34" charset="0"/>
                        </a:rPr>
                        <a:t>XMLData (Interface)</a:t>
                      </a:r>
                      <a:endParaRPr lang="en-IN" b="1" dirty="0">
                        <a:latin typeface="Candara" panose="020E0502030303020204" pitchFamily="34" charset="0"/>
                      </a:endParaRPr>
                    </a:p>
                  </a:txBody>
                  <a:tcPr anchor="ctr"/>
                </a:tc>
                <a:tc>
                  <a:txBody>
                    <a:bodyPr/>
                    <a:lstStyle/>
                    <a:p>
                      <a:pPr algn="just"/>
                      <a:r>
                        <a:rPr lang="en-US" b="1" dirty="0" smtClean="0">
                          <a:latin typeface="Candara" panose="020E0502030303020204" pitchFamily="34" charset="0"/>
                        </a:rPr>
                        <a:t>The existing, </a:t>
                      </a:r>
                      <a:r>
                        <a:rPr lang="en-US" b="1" dirty="0" smtClean="0">
                          <a:solidFill>
                            <a:srgbClr val="C00000"/>
                          </a:solidFill>
                          <a:latin typeface="Candara" panose="020E0502030303020204" pitchFamily="34" charset="0"/>
                        </a:rPr>
                        <a:t>incompatible interface</a:t>
                      </a:r>
                      <a:r>
                        <a:rPr lang="en-US" b="1" dirty="0" smtClean="0">
                          <a:latin typeface="Candara" panose="020E0502030303020204" pitchFamily="34" charset="0"/>
                        </a:rPr>
                        <a:t> that defines readXMLData().</a:t>
                      </a:r>
                      <a:endParaRPr lang="en-IN" b="1" dirty="0">
                        <a:latin typeface="Candara" panose="020E0502030303020204" pitchFamily="34" charset="0"/>
                      </a:endParaRPr>
                    </a:p>
                  </a:txBody>
                  <a:tcPr anchor="ctr"/>
                </a:tc>
                <a:extLst>
                  <a:ext uri="{0D108BD9-81ED-4DB2-BD59-A6C34878D82A}">
                    <a16:rowId xmlns:a16="http://schemas.microsoft.com/office/drawing/2014/main" val="2123552930"/>
                  </a:ext>
                </a:extLst>
              </a:tr>
              <a:tr h="800877">
                <a:tc>
                  <a:txBody>
                    <a:bodyPr/>
                    <a:lstStyle/>
                    <a:p>
                      <a:pPr algn="l"/>
                      <a:r>
                        <a:rPr lang="en-IN" b="1" dirty="0" smtClean="0">
                          <a:latin typeface="Candara" panose="020E0502030303020204" pitchFamily="34" charset="0"/>
                        </a:rPr>
                        <a:t>Concrete Adaptee</a:t>
                      </a:r>
                      <a:endParaRPr lang="en-IN" b="1" dirty="0">
                        <a:latin typeface="Candara" panose="020E0502030303020204" pitchFamily="34" charset="0"/>
                      </a:endParaRPr>
                    </a:p>
                  </a:txBody>
                  <a:tcPr anchor="ctr"/>
                </a:tc>
                <a:tc>
                  <a:txBody>
                    <a:bodyPr/>
                    <a:lstStyle/>
                    <a:p>
                      <a:pPr algn="l"/>
                      <a:r>
                        <a:rPr lang="en-IN" b="1" dirty="0" smtClean="0">
                          <a:latin typeface="Candara" panose="020E0502030303020204" pitchFamily="34" charset="0"/>
                        </a:rPr>
                        <a:t>XMLSoftware (Class)</a:t>
                      </a:r>
                      <a:endParaRPr lang="en-IN" b="1" dirty="0">
                        <a:latin typeface="Candara" panose="020E0502030303020204" pitchFamily="34" charset="0"/>
                      </a:endParaRPr>
                    </a:p>
                  </a:txBody>
                  <a:tcPr anchor="ctr"/>
                </a:tc>
                <a:tc>
                  <a:txBody>
                    <a:bodyPr/>
                    <a:lstStyle/>
                    <a:p>
                      <a:pPr algn="just"/>
                      <a:r>
                        <a:rPr lang="en-US" b="1" dirty="0" smtClean="0">
                          <a:latin typeface="Candara" panose="020E0502030303020204" pitchFamily="34" charset="0"/>
                        </a:rPr>
                        <a:t>The </a:t>
                      </a:r>
                      <a:r>
                        <a:rPr lang="en-US" b="1" dirty="0" smtClean="0">
                          <a:solidFill>
                            <a:srgbClr val="C00000"/>
                          </a:solidFill>
                          <a:latin typeface="Candara" panose="020E0502030303020204" pitchFamily="34" charset="0"/>
                        </a:rPr>
                        <a:t>actual class that implements XMLData</a:t>
                      </a:r>
                      <a:r>
                        <a:rPr lang="en-US" b="1" dirty="0" smtClean="0">
                          <a:latin typeface="Candara" panose="020E0502030303020204" pitchFamily="34" charset="0"/>
                        </a:rPr>
                        <a:t>, providing XML-specific functionality.</a:t>
                      </a:r>
                      <a:endParaRPr lang="en-IN" b="1" dirty="0">
                        <a:latin typeface="Candara" panose="020E0502030303020204" pitchFamily="34" charset="0"/>
                      </a:endParaRPr>
                    </a:p>
                  </a:txBody>
                  <a:tcPr anchor="ctr"/>
                </a:tc>
                <a:extLst>
                  <a:ext uri="{0D108BD9-81ED-4DB2-BD59-A6C34878D82A}">
                    <a16:rowId xmlns:a16="http://schemas.microsoft.com/office/drawing/2014/main" val="268788597"/>
                  </a:ext>
                </a:extLst>
              </a:tr>
              <a:tr h="999840">
                <a:tc>
                  <a:txBody>
                    <a:bodyPr/>
                    <a:lstStyle/>
                    <a:p>
                      <a:pPr algn="l"/>
                      <a:r>
                        <a:rPr lang="en-IN" b="1" dirty="0" smtClean="0">
                          <a:latin typeface="Candara" panose="020E0502030303020204" pitchFamily="34" charset="0"/>
                        </a:rPr>
                        <a:t>Adapter</a:t>
                      </a:r>
                      <a:endParaRPr lang="en-IN" b="1" dirty="0">
                        <a:latin typeface="Candara" panose="020E0502030303020204" pitchFamily="34" charset="0"/>
                      </a:endParaRPr>
                    </a:p>
                  </a:txBody>
                  <a:tcPr anchor="ctr"/>
                </a:tc>
                <a:tc>
                  <a:txBody>
                    <a:bodyPr/>
                    <a:lstStyle/>
                    <a:p>
                      <a:pPr algn="l"/>
                      <a:r>
                        <a:rPr lang="en-IN" b="1" dirty="0" smtClean="0">
                          <a:latin typeface="Candara" panose="020E0502030303020204" pitchFamily="34" charset="0"/>
                        </a:rPr>
                        <a:t>XMLTOJSONDataAdapter (Class)</a:t>
                      </a:r>
                      <a:endParaRPr lang="en-IN" b="1" dirty="0">
                        <a:latin typeface="Candara" panose="020E0502030303020204" pitchFamily="34" charset="0"/>
                      </a:endParaRPr>
                    </a:p>
                  </a:txBody>
                  <a:tcPr anchor="ctr"/>
                </a:tc>
                <a:tc>
                  <a:txBody>
                    <a:bodyPr/>
                    <a:lstStyle/>
                    <a:p>
                      <a:pPr algn="just"/>
                      <a:r>
                        <a:rPr lang="en-US" b="1" dirty="0" smtClean="0">
                          <a:solidFill>
                            <a:srgbClr val="C00000"/>
                          </a:solidFill>
                          <a:latin typeface="Candara" panose="020E0502030303020204" pitchFamily="34" charset="0"/>
                        </a:rPr>
                        <a:t>Bridges the gap between XMLData (Adaptee) and JSONData (Target)</a:t>
                      </a:r>
                      <a:r>
                        <a:rPr lang="en-US" b="1" dirty="0" smtClean="0">
                          <a:latin typeface="Candara" panose="020E0502030303020204" pitchFamily="34" charset="0"/>
                        </a:rPr>
                        <a:t>. It implements JSONData and internally uses XMLData.</a:t>
                      </a:r>
                      <a:endParaRPr lang="en-IN" b="1" dirty="0">
                        <a:latin typeface="Candara" panose="020E0502030303020204" pitchFamily="34" charset="0"/>
                      </a:endParaRPr>
                    </a:p>
                  </a:txBody>
                  <a:tcPr anchor="ctr"/>
                </a:tc>
                <a:extLst>
                  <a:ext uri="{0D108BD9-81ED-4DB2-BD59-A6C34878D82A}">
                    <a16:rowId xmlns:a16="http://schemas.microsoft.com/office/drawing/2014/main" val="3759256273"/>
                  </a:ext>
                </a:extLst>
              </a:tr>
              <a:tr h="699888">
                <a:tc>
                  <a:txBody>
                    <a:bodyPr/>
                    <a:lstStyle/>
                    <a:p>
                      <a:pPr algn="l"/>
                      <a:r>
                        <a:rPr lang="en-IN" b="1" dirty="0" smtClean="0">
                          <a:latin typeface="Candara" panose="020E0502030303020204" pitchFamily="34" charset="0"/>
                        </a:rPr>
                        <a:t>Client</a:t>
                      </a:r>
                      <a:endParaRPr lang="en-IN" b="1" dirty="0">
                        <a:latin typeface="Candara" panose="020E0502030303020204" pitchFamily="34" charset="0"/>
                      </a:endParaRPr>
                    </a:p>
                  </a:txBody>
                  <a:tcPr anchor="ctr"/>
                </a:tc>
                <a:tc>
                  <a:txBody>
                    <a:bodyPr/>
                    <a:lstStyle/>
                    <a:p>
                      <a:pPr algn="l"/>
                      <a:r>
                        <a:rPr lang="en-IN" b="1" dirty="0" smtClean="0">
                          <a:latin typeface="Candara" panose="020E0502030303020204" pitchFamily="34" charset="0"/>
                        </a:rPr>
                        <a:t>Main (Class)</a:t>
                      </a:r>
                      <a:endParaRPr lang="en-IN" b="1" dirty="0">
                        <a:latin typeface="Candara" panose="020E0502030303020204" pitchFamily="34" charset="0"/>
                      </a:endParaRPr>
                    </a:p>
                  </a:txBody>
                  <a:tcPr anchor="ctr"/>
                </a:tc>
                <a:tc>
                  <a:txBody>
                    <a:bodyPr/>
                    <a:lstStyle/>
                    <a:p>
                      <a:pPr algn="just"/>
                      <a:r>
                        <a:rPr lang="en-US" b="1" dirty="0" smtClean="0">
                          <a:solidFill>
                            <a:srgbClr val="C00000"/>
                          </a:solidFill>
                          <a:latin typeface="Candara" panose="020E0502030303020204" pitchFamily="34" charset="0"/>
                        </a:rPr>
                        <a:t>Uses JSONData but interacts with XMLSoftware via the adapter</a:t>
                      </a:r>
                      <a:r>
                        <a:rPr lang="en-US" b="1" dirty="0" smtClean="0">
                          <a:latin typeface="Candara" panose="020E0502030303020204" pitchFamily="34" charset="0"/>
                        </a:rPr>
                        <a:t>, without directly using XMLData.</a:t>
                      </a:r>
                      <a:endParaRPr lang="en-IN" b="1" dirty="0">
                        <a:latin typeface="Candara" panose="020E0502030303020204" pitchFamily="34" charset="0"/>
                      </a:endParaRPr>
                    </a:p>
                  </a:txBody>
                  <a:tcPr anchor="ctr"/>
                </a:tc>
                <a:extLst>
                  <a:ext uri="{0D108BD9-81ED-4DB2-BD59-A6C34878D82A}">
                    <a16:rowId xmlns:a16="http://schemas.microsoft.com/office/drawing/2014/main" val="2618259449"/>
                  </a:ext>
                </a:extLst>
              </a:tr>
            </a:tbl>
          </a:graphicData>
        </a:graphic>
      </p:graphicFrame>
    </p:spTree>
    <p:extLst>
      <p:ext uri="{BB962C8B-B14F-4D97-AF65-F5344CB8AC3E}">
        <p14:creationId xmlns:p14="http://schemas.microsoft.com/office/powerpoint/2010/main" val="8067408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8311" y="217714"/>
            <a:ext cx="4929050" cy="748938"/>
          </a:xfrm>
        </p:spPr>
        <p:txBody>
          <a:bodyPr anchor="ctr">
            <a:noAutofit/>
          </a:bodyPr>
          <a:lstStyle/>
          <a:p>
            <a:r>
              <a:rPr lang="en-IN" sz="4400" u="sng" dirty="0"/>
              <a:t>How to Implement</a:t>
            </a:r>
          </a:p>
        </p:txBody>
      </p:sp>
      <p:sp>
        <p:nvSpPr>
          <p:cNvPr id="3" name="TextBox 2"/>
          <p:cNvSpPr txBox="1"/>
          <p:nvPr/>
        </p:nvSpPr>
        <p:spPr>
          <a:xfrm>
            <a:off x="618310" y="1175657"/>
            <a:ext cx="11112136" cy="5632311"/>
          </a:xfrm>
          <a:prstGeom prst="rect">
            <a:avLst/>
          </a:prstGeom>
          <a:noFill/>
        </p:spPr>
        <p:txBody>
          <a:bodyPr wrap="square" rtlCol="0">
            <a:spAutoFit/>
          </a:bodyPr>
          <a:lstStyle/>
          <a:p>
            <a:pPr marL="342900" indent="-342900" algn="just">
              <a:buFont typeface="+mj-lt"/>
              <a:buAutoNum type="arabicPeriod"/>
            </a:pPr>
            <a:r>
              <a:rPr lang="en-US" sz="2000" b="1" dirty="0"/>
              <a:t>Identify Incompatibility: Have a service class with an incompatible interface that the client cannot use directly.</a:t>
            </a:r>
          </a:p>
          <a:p>
            <a:pPr marL="342900" indent="-342900" algn="just">
              <a:buFont typeface="+mj-lt"/>
              <a:buAutoNum type="arabicPeriod"/>
            </a:pPr>
            <a:endParaRPr lang="en-US" sz="2000" b="1" dirty="0"/>
          </a:p>
          <a:p>
            <a:pPr marL="342900" indent="-342900" algn="just">
              <a:buFont typeface="+mj-lt"/>
              <a:buAutoNum type="arabicPeriod"/>
            </a:pPr>
            <a:r>
              <a:rPr lang="en-US" sz="2000" b="1" dirty="0"/>
              <a:t>Define Client Interface: Create an interface that represents how the client expects to interact with the service.</a:t>
            </a:r>
          </a:p>
          <a:p>
            <a:pPr marL="342900" indent="-342900" algn="just">
              <a:buFont typeface="+mj-lt"/>
              <a:buAutoNum type="arabicPeriod"/>
            </a:pPr>
            <a:endParaRPr lang="en-US" sz="2000" b="1" dirty="0"/>
          </a:p>
          <a:p>
            <a:pPr marL="342900" indent="-342900" algn="just">
              <a:buFont typeface="+mj-lt"/>
              <a:buAutoNum type="arabicPeriod"/>
            </a:pPr>
            <a:r>
              <a:rPr lang="en-US" sz="2000" b="1" dirty="0"/>
              <a:t>Create Adapter Class: Implement the client interface in an adapter class, initially leaving methods unimplemented.</a:t>
            </a:r>
          </a:p>
          <a:p>
            <a:pPr marL="342900" indent="-342900" algn="just">
              <a:buFont typeface="+mj-lt"/>
              <a:buAutoNum type="arabicPeriod"/>
            </a:pPr>
            <a:endParaRPr lang="en-US" sz="2000" b="1" dirty="0"/>
          </a:p>
          <a:p>
            <a:pPr marL="342900" indent="-342900" algn="just">
              <a:buFont typeface="+mj-lt"/>
              <a:buAutoNum type="arabicPeriod"/>
            </a:pPr>
            <a:r>
              <a:rPr lang="en-US" sz="2000" b="1" dirty="0"/>
              <a:t>Store Service Reference: Add a field in the adapter to hold a reference to the service class, typically set via the constructor.</a:t>
            </a:r>
          </a:p>
          <a:p>
            <a:pPr marL="342900" indent="-342900" algn="just">
              <a:buFont typeface="+mj-lt"/>
              <a:buAutoNum type="arabicPeriod"/>
            </a:pPr>
            <a:endParaRPr lang="en-US" sz="2000" b="1" dirty="0"/>
          </a:p>
          <a:p>
            <a:pPr marL="342900" indent="-342900" algn="just">
              <a:buFont typeface="+mj-lt"/>
              <a:buAutoNum type="arabicPeriod"/>
            </a:pPr>
            <a:r>
              <a:rPr lang="en-US" sz="2000" b="1" dirty="0"/>
              <a:t>Implement Adaptation Logic: In the adapter, translate client interface calls into equivalent service calls, handling data or interface conversion as needed.</a:t>
            </a:r>
          </a:p>
          <a:p>
            <a:pPr marL="342900" indent="-342900" algn="just">
              <a:buFont typeface="+mj-lt"/>
              <a:buAutoNum type="arabicPeriod"/>
            </a:pPr>
            <a:endParaRPr lang="en-US" sz="2000" b="1" dirty="0"/>
          </a:p>
          <a:p>
            <a:pPr marL="342900" indent="-342900" algn="just">
              <a:buFont typeface="+mj-lt"/>
              <a:buAutoNum type="arabicPeriod"/>
            </a:pPr>
            <a:r>
              <a:rPr lang="en-US" sz="2000" b="1" dirty="0"/>
              <a:t>Client Uses Adapter: The client interacts only with the adapter via the client interface, ensuring flexibility and decoupling from the actual service class.</a:t>
            </a:r>
          </a:p>
          <a:p>
            <a:pPr marL="342900" indent="-342900" algn="just">
              <a:buFont typeface="+mj-lt"/>
              <a:buAutoNum type="arabicPeriod"/>
            </a:pPr>
            <a:endParaRPr lang="en-IN" sz="2000" b="1" dirty="0"/>
          </a:p>
        </p:txBody>
      </p:sp>
    </p:spTree>
    <p:extLst>
      <p:ext uri="{BB962C8B-B14F-4D97-AF65-F5344CB8AC3E}">
        <p14:creationId xmlns:p14="http://schemas.microsoft.com/office/powerpoint/2010/main" val="33767169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2181" y="0"/>
            <a:ext cx="4101740" cy="966652"/>
          </a:xfrm>
        </p:spPr>
        <p:txBody>
          <a:bodyPr>
            <a:normAutofit fontScale="90000"/>
          </a:bodyPr>
          <a:lstStyle/>
          <a:p>
            <a:r>
              <a:rPr lang="en-IN" sz="5300" u="sng" dirty="0"/>
              <a:t>Collaboration</a:t>
            </a:r>
            <a:endParaRPr lang="en-IN" sz="6000" u="sng" dirty="0"/>
          </a:p>
        </p:txBody>
      </p:sp>
      <p:sp>
        <p:nvSpPr>
          <p:cNvPr id="3" name="Subtitle 2"/>
          <p:cNvSpPr>
            <a:spLocks noGrp="1"/>
          </p:cNvSpPr>
          <p:nvPr>
            <p:ph type="subTitle" idx="1"/>
          </p:nvPr>
        </p:nvSpPr>
        <p:spPr>
          <a:xfrm>
            <a:off x="984065" y="1383300"/>
            <a:ext cx="10624457" cy="2378512"/>
          </a:xfrm>
        </p:spPr>
        <p:txBody>
          <a:bodyPr>
            <a:noAutofit/>
          </a:bodyPr>
          <a:lstStyle/>
          <a:p>
            <a:pPr marL="342900" indent="-342900" algn="just">
              <a:buClr>
                <a:schemeClr val="tx1"/>
              </a:buClr>
              <a:buSzPct val="119000"/>
              <a:buFont typeface="Arial" panose="020B0604020202020204" pitchFamily="34" charset="0"/>
              <a:buChar char="•"/>
            </a:pPr>
            <a:r>
              <a:rPr lang="en-US" b="1" dirty="0" smtClean="0">
                <a:solidFill>
                  <a:schemeClr val="tx1"/>
                </a:solidFill>
              </a:rPr>
              <a:t>Client </a:t>
            </a:r>
            <a:r>
              <a:rPr lang="en-US" b="1" dirty="0">
                <a:solidFill>
                  <a:schemeClr val="tx1"/>
                </a:solidFill>
              </a:rPr>
              <a:t>calls Adapter </a:t>
            </a:r>
            <a:r>
              <a:rPr lang="en-US" b="1" dirty="0" smtClean="0">
                <a:solidFill>
                  <a:schemeClr val="tx1"/>
                </a:solidFill>
              </a:rPr>
              <a:t>using </a:t>
            </a:r>
            <a:r>
              <a:rPr lang="en-US" b="1" dirty="0">
                <a:solidFill>
                  <a:schemeClr val="tx1"/>
                </a:solidFill>
              </a:rPr>
              <a:t>Target Interface.</a:t>
            </a:r>
          </a:p>
          <a:p>
            <a:pPr marL="342900" indent="-342900" algn="just">
              <a:buClr>
                <a:schemeClr val="tx1"/>
              </a:buClr>
              <a:buSzPct val="119000"/>
              <a:buFont typeface="Arial" panose="020B0604020202020204" pitchFamily="34" charset="0"/>
              <a:buChar char="•"/>
            </a:pPr>
            <a:r>
              <a:rPr lang="en-US" b="1" dirty="0">
                <a:solidFill>
                  <a:schemeClr val="tx1"/>
                </a:solidFill>
              </a:rPr>
              <a:t>Adapter class translates this request and delegates it to adaptee using one/multiple method calls using Adaptee </a:t>
            </a:r>
            <a:r>
              <a:rPr lang="en-US" b="1" dirty="0" smtClean="0">
                <a:solidFill>
                  <a:schemeClr val="tx1"/>
                </a:solidFill>
              </a:rPr>
              <a:t>Interface.</a:t>
            </a:r>
          </a:p>
          <a:p>
            <a:pPr marL="342900" indent="-342900" algn="just">
              <a:buClr>
                <a:schemeClr val="tx1"/>
              </a:buClr>
              <a:buSzPct val="119000"/>
              <a:buFont typeface="Arial" panose="020B0604020202020204" pitchFamily="34" charset="0"/>
              <a:buChar char="•"/>
            </a:pPr>
            <a:r>
              <a:rPr lang="en-US" b="1" dirty="0">
                <a:solidFill>
                  <a:schemeClr val="tx1"/>
                </a:solidFill>
              </a:rPr>
              <a:t>Adaptee returns response to Adapter class as defined in Adaptee Interface and then Adapter transforms this response before returning it to Client as defined in Target Interface</a:t>
            </a:r>
            <a:r>
              <a:rPr lang="en-US" b="1" dirty="0" smtClean="0">
                <a:solidFill>
                  <a:schemeClr val="tx1"/>
                </a:solidFill>
              </a:rPr>
              <a:t>.</a:t>
            </a:r>
            <a:endParaRPr lang="en-US" b="1" dirty="0">
              <a:solidFill>
                <a:schemeClr val="tx1"/>
              </a:solidFill>
            </a:endParaRPr>
          </a:p>
        </p:txBody>
      </p:sp>
      <p:sp>
        <p:nvSpPr>
          <p:cNvPr id="4" name="Title 1"/>
          <p:cNvSpPr txBox="1">
            <a:spLocks/>
          </p:cNvSpPr>
          <p:nvPr/>
        </p:nvSpPr>
        <p:spPr>
          <a:xfrm>
            <a:off x="592181" y="4178460"/>
            <a:ext cx="4763592" cy="966652"/>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4800" u="sng" dirty="0"/>
              <a:t>Also Known As</a:t>
            </a:r>
            <a:endParaRPr lang="en-IN" sz="6000" u="sng" dirty="0"/>
          </a:p>
        </p:txBody>
      </p:sp>
      <p:sp>
        <p:nvSpPr>
          <p:cNvPr id="10" name="Subtitle 2"/>
          <p:cNvSpPr txBox="1">
            <a:spLocks/>
          </p:cNvSpPr>
          <p:nvPr/>
        </p:nvSpPr>
        <p:spPr>
          <a:xfrm>
            <a:off x="984066" y="5601761"/>
            <a:ext cx="10624457" cy="520365"/>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algn="just"/>
            <a:r>
              <a:rPr lang="en-US" b="1" dirty="0">
                <a:solidFill>
                  <a:schemeClr val="tx1"/>
                </a:solidFill>
              </a:rPr>
              <a:t>Wrapper </a:t>
            </a:r>
            <a:r>
              <a:rPr lang="en-US" b="1" dirty="0" smtClean="0">
                <a:solidFill>
                  <a:schemeClr val="tx1"/>
                </a:solidFill>
              </a:rPr>
              <a:t>(</a:t>
            </a:r>
            <a:r>
              <a:rPr lang="en-US" dirty="0"/>
              <a:t>since it wraps one interface and makes it compatible with another</a:t>
            </a:r>
            <a:r>
              <a:rPr lang="en-US" b="1" dirty="0" smtClean="0">
                <a:solidFill>
                  <a:schemeClr val="tx1"/>
                </a:solidFill>
              </a:rPr>
              <a:t>).</a:t>
            </a:r>
            <a:endParaRPr lang="en-US" b="1" dirty="0">
              <a:solidFill>
                <a:schemeClr val="tx1"/>
              </a:solidFill>
            </a:endParaRPr>
          </a:p>
        </p:txBody>
      </p:sp>
    </p:spTree>
    <p:extLst>
      <p:ext uri="{BB962C8B-B14F-4D97-AF65-F5344CB8AC3E}">
        <p14:creationId xmlns:p14="http://schemas.microsoft.com/office/powerpoint/2010/main" val="3094318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2511" y="189443"/>
            <a:ext cx="3518266" cy="709214"/>
          </a:xfrm>
        </p:spPr>
        <p:txBody>
          <a:bodyPr>
            <a:normAutofit fontScale="90000"/>
          </a:bodyPr>
          <a:lstStyle/>
          <a:p>
            <a:r>
              <a:rPr lang="en-IN" sz="5300" u="sng" dirty="0" smtClean="0"/>
              <a:t>Advantages</a:t>
            </a:r>
            <a:endParaRPr lang="en-IN" sz="4800" u="sng" dirty="0"/>
          </a:p>
        </p:txBody>
      </p:sp>
      <p:sp>
        <p:nvSpPr>
          <p:cNvPr id="3" name="Subtitle 2"/>
          <p:cNvSpPr>
            <a:spLocks noGrp="1"/>
          </p:cNvSpPr>
          <p:nvPr>
            <p:ph type="subTitle" idx="1"/>
          </p:nvPr>
        </p:nvSpPr>
        <p:spPr>
          <a:xfrm>
            <a:off x="618306" y="1299251"/>
            <a:ext cx="11051180" cy="2211974"/>
          </a:xfrm>
        </p:spPr>
        <p:txBody>
          <a:bodyPr>
            <a:noAutofit/>
          </a:bodyPr>
          <a:lstStyle/>
          <a:p>
            <a:pPr marL="342900" indent="-342900" algn="just">
              <a:buClr>
                <a:schemeClr val="tx1"/>
              </a:buClr>
              <a:buSzPct val="119000"/>
              <a:buFont typeface="Arial" panose="020B0604020202020204" pitchFamily="34" charset="0"/>
              <a:buChar char="•"/>
            </a:pPr>
            <a:r>
              <a:rPr lang="en-US" b="1" dirty="0">
                <a:solidFill>
                  <a:schemeClr val="tx1"/>
                </a:solidFill>
              </a:rPr>
              <a:t>Allows reuse of existing code with different interfaces</a:t>
            </a:r>
            <a:r>
              <a:rPr lang="en-US" b="1" dirty="0" smtClean="0">
                <a:solidFill>
                  <a:schemeClr val="tx1"/>
                </a:solidFill>
              </a:rPr>
              <a:t>.</a:t>
            </a:r>
          </a:p>
          <a:p>
            <a:pPr marL="342900" indent="-342900" algn="just">
              <a:buClr>
                <a:schemeClr val="tx1"/>
              </a:buClr>
              <a:buSzPct val="119000"/>
              <a:buFont typeface="Arial" panose="020B0604020202020204" pitchFamily="34" charset="0"/>
              <a:buChar char="•"/>
            </a:pPr>
            <a:r>
              <a:rPr lang="en-US" b="1" dirty="0">
                <a:solidFill>
                  <a:schemeClr val="tx1"/>
                </a:solidFill>
              </a:rPr>
              <a:t>Improves code flexibility by enabling communication between incompatible components</a:t>
            </a:r>
            <a:r>
              <a:rPr lang="en-US" b="1" dirty="0" smtClean="0">
                <a:solidFill>
                  <a:schemeClr val="tx1"/>
                </a:solidFill>
              </a:rPr>
              <a:t>.</a:t>
            </a:r>
          </a:p>
          <a:p>
            <a:pPr marL="342900" indent="-342900" algn="just">
              <a:buClr>
                <a:schemeClr val="tx1"/>
              </a:buClr>
              <a:buSzPct val="119000"/>
              <a:buFont typeface="Arial" panose="020B0604020202020204" pitchFamily="34" charset="0"/>
              <a:buChar char="•"/>
            </a:pPr>
            <a:r>
              <a:rPr lang="en-US" b="1" dirty="0">
                <a:solidFill>
                  <a:schemeClr val="tx1"/>
                </a:solidFill>
              </a:rPr>
              <a:t>Supports open/closed principle (allows adding new adapters without modifying existing code).</a:t>
            </a:r>
            <a:endParaRPr lang="en-IN" b="1" dirty="0">
              <a:solidFill>
                <a:schemeClr val="tx1"/>
              </a:solidFill>
            </a:endParaRPr>
          </a:p>
        </p:txBody>
      </p:sp>
      <p:sp>
        <p:nvSpPr>
          <p:cNvPr id="6" name="Title 1"/>
          <p:cNvSpPr txBox="1">
            <a:spLocks/>
          </p:cNvSpPr>
          <p:nvPr/>
        </p:nvSpPr>
        <p:spPr>
          <a:xfrm>
            <a:off x="522510" y="3831771"/>
            <a:ext cx="4362999" cy="709214"/>
          </a:xfrm>
          <a:prstGeom prst="rect">
            <a:avLst/>
          </a:prstGeom>
        </p:spPr>
        <p:txBody>
          <a:bodyPr vert="horz" lIns="91440" tIns="45720" rIns="91440" bIns="45720" rtlCol="0" anchor="b">
            <a:normAutofit fontScale="90000" lnSpcReduction="100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5300" u="sng" dirty="0" smtClean="0"/>
              <a:t>Disadvantages</a:t>
            </a:r>
            <a:endParaRPr lang="en-IN" sz="4800" u="sng" dirty="0"/>
          </a:p>
        </p:txBody>
      </p:sp>
      <p:sp>
        <p:nvSpPr>
          <p:cNvPr id="7" name="Subtitle 2"/>
          <p:cNvSpPr txBox="1">
            <a:spLocks/>
          </p:cNvSpPr>
          <p:nvPr/>
        </p:nvSpPr>
        <p:spPr>
          <a:xfrm>
            <a:off x="618306" y="4958161"/>
            <a:ext cx="11051180" cy="163285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marL="342900" indent="-342900" algn="just">
              <a:buClr>
                <a:schemeClr val="tx1"/>
              </a:buClr>
              <a:buSzPct val="119000"/>
              <a:buFont typeface="Arial" pitchFamily="34" charset="0"/>
              <a:buChar char="•"/>
            </a:pPr>
            <a:r>
              <a:rPr lang="en-US" b="1" dirty="0">
                <a:solidFill>
                  <a:schemeClr val="tx1"/>
                </a:solidFill>
              </a:rPr>
              <a:t>Introduces extra layers of abstraction, which can make debugging </a:t>
            </a:r>
            <a:r>
              <a:rPr lang="en-US" b="1" dirty="0" smtClean="0">
                <a:solidFill>
                  <a:schemeClr val="tx1"/>
                </a:solidFill>
              </a:rPr>
              <a:t>harder.</a:t>
            </a:r>
          </a:p>
          <a:p>
            <a:pPr marL="342900" indent="-342900" algn="just">
              <a:buClr>
                <a:schemeClr val="tx1"/>
              </a:buClr>
              <a:buSzPct val="119000"/>
              <a:buFont typeface="Arial" pitchFamily="34" charset="0"/>
              <a:buChar char="•"/>
            </a:pPr>
            <a:r>
              <a:rPr lang="en-US" b="1" dirty="0" smtClean="0">
                <a:solidFill>
                  <a:schemeClr val="tx1"/>
                </a:solidFill>
              </a:rPr>
              <a:t>If </a:t>
            </a:r>
            <a:r>
              <a:rPr lang="en-US" b="1" dirty="0">
                <a:solidFill>
                  <a:schemeClr val="tx1"/>
                </a:solidFill>
              </a:rPr>
              <a:t>overused, it might lead to unnecessary complexity in the code structure</a:t>
            </a:r>
            <a:r>
              <a:rPr lang="en-US" b="1" dirty="0" smtClean="0">
                <a:solidFill>
                  <a:schemeClr val="tx1"/>
                </a:solidFill>
              </a:rPr>
              <a:t>.</a:t>
            </a:r>
          </a:p>
        </p:txBody>
      </p:sp>
    </p:spTree>
    <p:extLst>
      <p:ext uri="{BB962C8B-B14F-4D97-AF65-F5344CB8AC3E}">
        <p14:creationId xmlns:p14="http://schemas.microsoft.com/office/powerpoint/2010/main" val="6262875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2513" y="-42219"/>
            <a:ext cx="4101740" cy="726631"/>
          </a:xfrm>
        </p:spPr>
        <p:txBody>
          <a:bodyPr>
            <a:normAutofit/>
          </a:bodyPr>
          <a:lstStyle/>
          <a:p>
            <a:r>
              <a:rPr lang="en-IN" sz="4000" u="sng" dirty="0" smtClean="0"/>
              <a:t>Applicability</a:t>
            </a:r>
            <a:endParaRPr lang="en-IN" sz="4400" u="sng" dirty="0"/>
          </a:p>
        </p:txBody>
      </p:sp>
      <p:sp>
        <p:nvSpPr>
          <p:cNvPr id="3" name="Subtitle 2"/>
          <p:cNvSpPr>
            <a:spLocks noGrp="1"/>
          </p:cNvSpPr>
          <p:nvPr>
            <p:ph type="subTitle" idx="1"/>
          </p:nvPr>
        </p:nvSpPr>
        <p:spPr>
          <a:xfrm>
            <a:off x="1088568" y="915625"/>
            <a:ext cx="10624457" cy="2872604"/>
          </a:xfrm>
        </p:spPr>
        <p:txBody>
          <a:bodyPr>
            <a:normAutofit/>
          </a:bodyPr>
          <a:lstStyle/>
          <a:p>
            <a:pPr marL="342900" indent="-342900" algn="just">
              <a:buClr>
                <a:schemeClr val="tx1"/>
              </a:buClr>
              <a:buSzPct val="119000"/>
              <a:buFont typeface="Arial" panose="020B0604020202020204" pitchFamily="34" charset="0"/>
              <a:buChar char="•"/>
            </a:pPr>
            <a:r>
              <a:rPr lang="en-US" b="1" dirty="0">
                <a:solidFill>
                  <a:schemeClr val="tx1"/>
                </a:solidFill>
              </a:rPr>
              <a:t>Use the Adapter class when you want to use some existing class, but its interface isn’t compatible with the rest of your </a:t>
            </a:r>
            <a:r>
              <a:rPr lang="en-US" b="1" dirty="0" smtClean="0">
                <a:solidFill>
                  <a:schemeClr val="tx1"/>
                </a:solidFill>
              </a:rPr>
              <a:t>code.</a:t>
            </a:r>
          </a:p>
          <a:p>
            <a:pPr marL="342900" indent="-342900" algn="just">
              <a:buClr>
                <a:schemeClr val="tx1"/>
              </a:buClr>
              <a:buSzPct val="119000"/>
              <a:buFont typeface="Arial" panose="020B0604020202020204" pitchFamily="34" charset="0"/>
              <a:buChar char="•"/>
            </a:pPr>
            <a:r>
              <a:rPr lang="en-US" b="1" dirty="0" smtClean="0">
                <a:solidFill>
                  <a:schemeClr val="tx1"/>
                </a:solidFill>
              </a:rPr>
              <a:t>When </a:t>
            </a:r>
            <a:r>
              <a:rPr lang="en-US" b="1" dirty="0">
                <a:solidFill>
                  <a:schemeClr val="tx1"/>
                </a:solidFill>
              </a:rPr>
              <a:t>a new system wants to interact with legacy(old) system using new interface which is not compatible with interface of legacy system</a:t>
            </a:r>
            <a:r>
              <a:rPr lang="en-US" b="1" dirty="0" smtClean="0">
                <a:solidFill>
                  <a:schemeClr val="tx1"/>
                </a:solidFill>
              </a:rPr>
              <a:t>.</a:t>
            </a:r>
          </a:p>
          <a:p>
            <a:pPr marL="342900" indent="-342900" algn="just">
              <a:buClr>
                <a:schemeClr val="tx1"/>
              </a:buClr>
              <a:buSzPct val="119000"/>
              <a:buFont typeface="Arial" panose="020B0604020202020204" pitchFamily="34" charset="0"/>
              <a:buChar char="•"/>
            </a:pPr>
            <a:r>
              <a:rPr lang="en-US" b="1" dirty="0">
                <a:solidFill>
                  <a:schemeClr val="tx1"/>
                </a:solidFill>
              </a:rPr>
              <a:t>When you want to use a 3rd party framework or library whose interface is incompatible with your system.</a:t>
            </a:r>
          </a:p>
          <a:p>
            <a:pPr marL="342900" indent="-342900" algn="just">
              <a:buClr>
                <a:schemeClr val="tx1"/>
              </a:buClr>
              <a:buSzPct val="119000"/>
              <a:buFont typeface="Arial" panose="020B0604020202020204" pitchFamily="34" charset="0"/>
              <a:buChar char="•"/>
            </a:pPr>
            <a:endParaRPr lang="en-US" b="1" dirty="0">
              <a:solidFill>
                <a:schemeClr val="tx1"/>
              </a:solidFill>
            </a:endParaRPr>
          </a:p>
        </p:txBody>
      </p:sp>
      <p:sp>
        <p:nvSpPr>
          <p:cNvPr id="4" name="Title 1"/>
          <p:cNvSpPr txBox="1">
            <a:spLocks/>
          </p:cNvSpPr>
          <p:nvPr/>
        </p:nvSpPr>
        <p:spPr>
          <a:xfrm>
            <a:off x="522513" y="3788229"/>
            <a:ext cx="4998722" cy="70646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IN" sz="3600" u="sng" dirty="0" smtClean="0"/>
              <a:t>When to not use it</a:t>
            </a:r>
            <a:endParaRPr lang="en-IN" sz="4800" u="sng" dirty="0"/>
          </a:p>
        </p:txBody>
      </p:sp>
      <p:sp>
        <p:nvSpPr>
          <p:cNvPr id="6" name="Subtitle 2"/>
          <p:cNvSpPr txBox="1">
            <a:spLocks/>
          </p:cNvSpPr>
          <p:nvPr/>
        </p:nvSpPr>
        <p:spPr>
          <a:xfrm>
            <a:off x="1088568" y="4789019"/>
            <a:ext cx="10624457" cy="1838203"/>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marL="342900" indent="-342900" algn="just">
              <a:buClr>
                <a:schemeClr val="tx1"/>
              </a:buClr>
              <a:buSzPct val="119000"/>
              <a:buFont typeface="Arial" pitchFamily="34" charset="0"/>
              <a:buChar char="•"/>
            </a:pPr>
            <a:r>
              <a:rPr lang="en-US" sz="2000" b="1" dirty="0">
                <a:solidFill>
                  <a:schemeClr val="tx1"/>
                </a:solidFill>
              </a:rPr>
              <a:t>You can modify the original code to match the required interface. Instead of adding an adapter, refactoring might be a cleaner solution</a:t>
            </a:r>
            <a:r>
              <a:rPr lang="en-US" sz="2000" b="1" dirty="0" smtClean="0">
                <a:solidFill>
                  <a:schemeClr val="tx1"/>
                </a:solidFill>
              </a:rPr>
              <a:t>.</a:t>
            </a:r>
          </a:p>
          <a:p>
            <a:pPr marL="342900" indent="-342900" algn="just">
              <a:buClr>
                <a:schemeClr val="tx1"/>
              </a:buClr>
              <a:buSzPct val="119000"/>
              <a:buFont typeface="Arial" pitchFamily="34" charset="0"/>
              <a:buChar char="•"/>
            </a:pPr>
            <a:r>
              <a:rPr lang="en-US" sz="2000" b="1" dirty="0">
                <a:solidFill>
                  <a:schemeClr val="tx1"/>
                </a:solidFill>
              </a:rPr>
              <a:t>A simple method override or extension is enough. If you can just extend a class and override a method to achieve the same result, an adapter is overkill.</a:t>
            </a:r>
            <a:endParaRPr lang="en-US" sz="2000" b="1" dirty="0" smtClean="0">
              <a:solidFill>
                <a:schemeClr val="tx1"/>
              </a:solidFill>
            </a:endParaRPr>
          </a:p>
        </p:txBody>
      </p:sp>
    </p:spTree>
    <p:extLst>
      <p:ext uri="{BB962C8B-B14F-4D97-AF65-F5344CB8AC3E}">
        <p14:creationId xmlns:p14="http://schemas.microsoft.com/office/powerpoint/2010/main" val="3340936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2513" y="185484"/>
            <a:ext cx="4101740" cy="726631"/>
          </a:xfrm>
        </p:spPr>
        <p:txBody>
          <a:bodyPr>
            <a:normAutofit fontScale="90000"/>
          </a:bodyPr>
          <a:lstStyle/>
          <a:p>
            <a:r>
              <a:rPr lang="en-US" sz="4400" u="sng" dirty="0" smtClean="0"/>
              <a:t>Related Patterns</a:t>
            </a:r>
            <a:endParaRPr lang="en-IN" sz="4800" u="sng" dirty="0"/>
          </a:p>
        </p:txBody>
      </p:sp>
      <p:sp>
        <p:nvSpPr>
          <p:cNvPr id="3" name="Subtitle 2"/>
          <p:cNvSpPr>
            <a:spLocks noGrp="1"/>
          </p:cNvSpPr>
          <p:nvPr>
            <p:ph type="subTitle" idx="1"/>
          </p:nvPr>
        </p:nvSpPr>
        <p:spPr>
          <a:xfrm>
            <a:off x="1088569" y="1205699"/>
            <a:ext cx="10624457" cy="2272325"/>
          </a:xfrm>
        </p:spPr>
        <p:txBody>
          <a:bodyPr>
            <a:normAutofit/>
          </a:bodyPr>
          <a:lstStyle/>
          <a:p>
            <a:pPr marL="342900" indent="-342900" algn="just">
              <a:buClr>
                <a:schemeClr val="tx1"/>
              </a:buClr>
              <a:buSzPct val="119000"/>
              <a:buFont typeface="Arial" panose="020B0604020202020204" pitchFamily="34" charset="0"/>
              <a:buChar char="•"/>
            </a:pPr>
            <a:r>
              <a:rPr lang="en-US" b="1" dirty="0" smtClean="0">
                <a:solidFill>
                  <a:schemeClr val="tx1"/>
                </a:solidFill>
              </a:rPr>
              <a:t>Facade </a:t>
            </a:r>
            <a:r>
              <a:rPr lang="en-US" b="1" dirty="0">
                <a:solidFill>
                  <a:schemeClr val="tx1"/>
                </a:solidFill>
              </a:rPr>
              <a:t>Pattern (Provides a simplified interface, often using adapters internally).</a:t>
            </a:r>
          </a:p>
          <a:p>
            <a:pPr marL="342900" indent="-342900" algn="just">
              <a:buClr>
                <a:schemeClr val="tx1"/>
              </a:buClr>
              <a:buSzPct val="119000"/>
              <a:buFont typeface="Arial" panose="020B0604020202020204" pitchFamily="34" charset="0"/>
              <a:buChar char="•"/>
            </a:pPr>
            <a:r>
              <a:rPr lang="en-US" b="1" dirty="0">
                <a:solidFill>
                  <a:schemeClr val="tx1"/>
                </a:solidFill>
              </a:rPr>
              <a:t>Decorator Pattern (adds behavior dynamically without modifying the object</a:t>
            </a:r>
            <a:r>
              <a:rPr lang="en-US" b="1" dirty="0" smtClean="0">
                <a:solidFill>
                  <a:schemeClr val="tx1"/>
                </a:solidFill>
              </a:rPr>
              <a:t>).</a:t>
            </a:r>
          </a:p>
          <a:p>
            <a:pPr marL="342900" indent="-342900" algn="just">
              <a:buClr>
                <a:schemeClr val="tx1"/>
              </a:buClr>
              <a:buSzPct val="119000"/>
              <a:buFont typeface="Arial" panose="020B0604020202020204" pitchFamily="34" charset="0"/>
              <a:buChar char="•"/>
            </a:pPr>
            <a:r>
              <a:rPr lang="en-US" b="1" dirty="0">
                <a:solidFill>
                  <a:schemeClr val="tx1"/>
                </a:solidFill>
              </a:rPr>
              <a:t>Proxy Pattern (controls access to another object).</a:t>
            </a:r>
          </a:p>
        </p:txBody>
      </p:sp>
      <p:sp>
        <p:nvSpPr>
          <p:cNvPr id="9" name="Title 1"/>
          <p:cNvSpPr txBox="1">
            <a:spLocks/>
          </p:cNvSpPr>
          <p:nvPr/>
        </p:nvSpPr>
        <p:spPr>
          <a:xfrm>
            <a:off x="522513" y="3771608"/>
            <a:ext cx="4101740" cy="726631"/>
          </a:xfrm>
          <a:prstGeom prst="rect">
            <a:avLst/>
          </a:prstGeom>
        </p:spPr>
        <p:txBody>
          <a:bodyPr vert="horz" lIns="91440" tIns="45720" rIns="91440" bIns="45720" rtlCol="0" anchor="b">
            <a:normAutofit fontScale="90000"/>
          </a:bodyPr>
          <a:lstStyle>
            <a:lvl1pPr algn="l" defTabSz="914400" rtl="0" eaLnBrk="1" latinLnBrk="0" hangingPunct="1">
              <a:lnSpc>
                <a:spcPct val="85000"/>
              </a:lnSpc>
              <a:spcBef>
                <a:spcPct val="0"/>
              </a:spcBef>
              <a:buNone/>
              <a:defRPr sz="7200" kern="1200" spc="-50" baseline="0">
                <a:solidFill>
                  <a:schemeClr val="tx1"/>
                </a:solidFill>
                <a:latin typeface="+mj-lt"/>
                <a:ea typeface="+mj-ea"/>
                <a:cs typeface="+mj-cs"/>
              </a:defRPr>
            </a:lvl1pPr>
          </a:lstStyle>
          <a:p>
            <a:r>
              <a:rPr lang="en-US" sz="4400" u="sng" dirty="0" smtClean="0"/>
              <a:t>Design Principle</a:t>
            </a:r>
            <a:endParaRPr lang="en-IN" sz="4800" u="sng" dirty="0"/>
          </a:p>
        </p:txBody>
      </p:sp>
      <p:sp>
        <p:nvSpPr>
          <p:cNvPr id="10" name="Subtitle 2"/>
          <p:cNvSpPr txBox="1">
            <a:spLocks/>
          </p:cNvSpPr>
          <p:nvPr/>
        </p:nvSpPr>
        <p:spPr>
          <a:xfrm>
            <a:off x="1088569" y="4793932"/>
            <a:ext cx="10624457" cy="1815125"/>
          </a:xfrm>
          <a:prstGeom prst="rect">
            <a:avLst/>
          </a:prstGeom>
        </p:spPr>
        <p:txBody>
          <a:bodyPr vert="horz" lIns="91440" tIns="45720" rIns="91440" bIns="45720" rtlCol="0">
            <a:normAutofit lnSpcReduction="10000"/>
          </a:bodyPr>
          <a:lstStyle>
            <a:lvl1pPr marL="0" indent="0" algn="l" defTabSz="914400" rtl="0" eaLnBrk="1" latinLnBrk="0" hangingPunct="1">
              <a:lnSpc>
                <a:spcPct val="95000"/>
              </a:lnSpc>
              <a:spcBef>
                <a:spcPts val="1400"/>
              </a:spcBef>
              <a:spcAft>
                <a:spcPts val="200"/>
              </a:spcAft>
              <a:buClr>
                <a:schemeClr val="accent1"/>
              </a:buClr>
              <a:buSzPct val="80000"/>
              <a:buFont typeface="Arial" pitchFamily="34" charset="0"/>
              <a:buNone/>
              <a:defRPr sz="2200" kern="1200" spc="10" baseline="0">
                <a:solidFill>
                  <a:schemeClr val="tx1">
                    <a:lumMod val="75000"/>
                  </a:schemeClr>
                </a:solidFill>
                <a:latin typeface="+mn-lt"/>
                <a:ea typeface="+mn-ea"/>
                <a:cs typeface="+mn-cs"/>
              </a:defRPr>
            </a:lvl1pPr>
            <a:lvl2pPr marL="4572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2pPr>
            <a:lvl3pPr marL="914400" indent="0" algn="ctr" defTabSz="914400" rtl="0" eaLnBrk="1" latinLnBrk="0" hangingPunct="1">
              <a:lnSpc>
                <a:spcPct val="90000"/>
              </a:lnSpc>
              <a:spcBef>
                <a:spcPts val="300"/>
              </a:spcBef>
              <a:spcAft>
                <a:spcPts val="300"/>
              </a:spcAft>
              <a:buClr>
                <a:schemeClr val="accent1"/>
              </a:buClr>
              <a:buFont typeface="Wingdings 2" pitchFamily="18" charset="2"/>
              <a:buNone/>
              <a:defRPr sz="2200" kern="1200">
                <a:solidFill>
                  <a:schemeClr val="tx1">
                    <a:lumMod val="85000"/>
                    <a:lumOff val="15000"/>
                  </a:schemeClr>
                </a:solidFill>
                <a:latin typeface="+mn-lt"/>
                <a:ea typeface="+mn-ea"/>
                <a:cs typeface="+mn-cs"/>
              </a:defRPr>
            </a:lvl3pPr>
            <a:lvl4pPr marL="1371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4pPr>
            <a:lvl5pPr marL="18288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marL="342900" indent="-342900" algn="just">
              <a:buClr>
                <a:schemeClr val="tx1"/>
              </a:buClr>
              <a:buSzPct val="119000"/>
              <a:buFont typeface="Arial" pitchFamily="34" charset="0"/>
              <a:buChar char="•"/>
            </a:pPr>
            <a:r>
              <a:rPr lang="en-US" b="1" dirty="0">
                <a:solidFill>
                  <a:schemeClr val="tx1"/>
                </a:solidFill>
              </a:rPr>
              <a:t>Single Responsibility Principle (SRP): The Adapter class has one responsibility: adapting the interface</a:t>
            </a:r>
            <a:r>
              <a:rPr lang="en-US" b="1" dirty="0" smtClean="0">
                <a:solidFill>
                  <a:schemeClr val="tx1"/>
                </a:solidFill>
              </a:rPr>
              <a:t>.</a:t>
            </a:r>
          </a:p>
          <a:p>
            <a:pPr marL="342900" indent="-342900" algn="just">
              <a:buClr>
                <a:schemeClr val="tx1"/>
              </a:buClr>
              <a:buSzPct val="119000"/>
              <a:buFont typeface="Arial" pitchFamily="34" charset="0"/>
              <a:buChar char="•"/>
            </a:pPr>
            <a:r>
              <a:rPr lang="en-US" b="1" dirty="0">
                <a:solidFill>
                  <a:schemeClr val="tx1"/>
                </a:solidFill>
              </a:rPr>
              <a:t>Open/Closed Principle (OCP): The Adapter pattern allows you to extend functionality by adding new adapters without modifying existing code.</a:t>
            </a:r>
          </a:p>
        </p:txBody>
      </p:sp>
    </p:spTree>
    <p:extLst>
      <p:ext uri="{BB962C8B-B14F-4D97-AF65-F5344CB8AC3E}">
        <p14:creationId xmlns:p14="http://schemas.microsoft.com/office/powerpoint/2010/main" val="29190090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9268" y="478972"/>
            <a:ext cx="9614263" cy="726631"/>
          </a:xfrm>
        </p:spPr>
        <p:txBody>
          <a:bodyPr>
            <a:noAutofit/>
          </a:bodyPr>
          <a:lstStyle/>
          <a:p>
            <a:r>
              <a:rPr lang="fr-FR" sz="4000" u="sng" dirty="0"/>
              <a:t>Important Points About Adapter Pattern</a:t>
            </a:r>
            <a:endParaRPr lang="en-IN" sz="2400" u="sng" dirty="0"/>
          </a:p>
        </p:txBody>
      </p:sp>
      <p:sp>
        <p:nvSpPr>
          <p:cNvPr id="4" name="Subtitle 3"/>
          <p:cNvSpPr>
            <a:spLocks noGrp="1"/>
          </p:cNvSpPr>
          <p:nvPr>
            <p:ph type="subTitle" idx="1"/>
          </p:nvPr>
        </p:nvSpPr>
        <p:spPr>
          <a:xfrm>
            <a:off x="1193074" y="1883228"/>
            <a:ext cx="10258698" cy="3298372"/>
          </a:xfrm>
        </p:spPr>
        <p:txBody>
          <a:bodyPr>
            <a:noAutofit/>
          </a:bodyPr>
          <a:lstStyle/>
          <a:p>
            <a:pPr marL="342900" indent="-342900" algn="just">
              <a:buClr>
                <a:schemeClr val="tx1"/>
              </a:buClr>
              <a:buSzPct val="120000"/>
              <a:buFont typeface="Arial" panose="020B0604020202020204" pitchFamily="34" charset="0"/>
              <a:buChar char="•"/>
            </a:pPr>
            <a:r>
              <a:rPr lang="en-US" sz="2400" b="1" dirty="0">
                <a:solidFill>
                  <a:schemeClr val="tx1"/>
                </a:solidFill>
              </a:rPr>
              <a:t>Adapter class changes the interface of an existing object.</a:t>
            </a:r>
          </a:p>
          <a:p>
            <a:pPr marL="342900" indent="-342900" algn="just">
              <a:buClr>
                <a:schemeClr val="tx1"/>
              </a:buClr>
              <a:buSzPct val="120000"/>
              <a:buFont typeface="Arial" panose="020B0604020202020204" pitchFamily="34" charset="0"/>
              <a:buChar char="•"/>
            </a:pPr>
            <a:r>
              <a:rPr lang="en-US" sz="2400" b="1" dirty="0">
                <a:solidFill>
                  <a:schemeClr val="tx1"/>
                </a:solidFill>
              </a:rPr>
              <a:t>Adapter class is a good example of object composition. Adapter class "has a" instance of the adaptee class.</a:t>
            </a:r>
          </a:p>
          <a:p>
            <a:pPr marL="342900" indent="-342900" algn="just">
              <a:buClr>
                <a:schemeClr val="tx1"/>
              </a:buClr>
              <a:buSzPct val="120000"/>
              <a:buFont typeface="Arial" panose="020B0604020202020204" pitchFamily="34" charset="0"/>
              <a:buChar char="•"/>
            </a:pPr>
            <a:r>
              <a:rPr lang="en-US" sz="2400" b="1" dirty="0">
                <a:solidFill>
                  <a:schemeClr val="tx1"/>
                </a:solidFill>
              </a:rPr>
              <a:t>We can use an Adapter with any class Implementing Adaptee Interface.</a:t>
            </a:r>
          </a:p>
          <a:p>
            <a:pPr marL="342900" indent="-342900" algn="just">
              <a:buClr>
                <a:schemeClr val="tx1"/>
              </a:buClr>
              <a:buSzPct val="120000"/>
              <a:buFont typeface="Arial" panose="020B0604020202020204" pitchFamily="34" charset="0"/>
              <a:buChar char="•"/>
            </a:pPr>
            <a:r>
              <a:rPr lang="en-US" sz="2400" b="1" dirty="0">
                <a:solidFill>
                  <a:schemeClr val="tx1"/>
                </a:solidFill>
              </a:rPr>
              <a:t>Adapter wraps an object to change it's interface whereas a decorator wraps an object to add extra functionalities.</a:t>
            </a:r>
          </a:p>
        </p:txBody>
      </p:sp>
    </p:spTree>
    <p:extLst>
      <p:ext uri="{BB962C8B-B14F-4D97-AF65-F5344CB8AC3E}">
        <p14:creationId xmlns:p14="http://schemas.microsoft.com/office/powerpoint/2010/main" val="659942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22513" y="185484"/>
            <a:ext cx="3988528" cy="726631"/>
          </a:xfrm>
        </p:spPr>
        <p:txBody>
          <a:bodyPr>
            <a:normAutofit/>
          </a:bodyPr>
          <a:lstStyle/>
          <a:p>
            <a:r>
              <a:rPr lang="en-US" sz="4400" u="sng" dirty="0"/>
              <a:t>Real-Time </a:t>
            </a:r>
            <a:r>
              <a:rPr lang="en-US" sz="4400" u="sng" dirty="0" smtClean="0"/>
              <a:t>Use</a:t>
            </a:r>
            <a:endParaRPr lang="en-IN" sz="4800" u="sng" dirty="0"/>
          </a:p>
        </p:txBody>
      </p:sp>
      <p:sp>
        <p:nvSpPr>
          <p:cNvPr id="3" name="Subtitle 2"/>
          <p:cNvSpPr>
            <a:spLocks noGrp="1"/>
          </p:cNvSpPr>
          <p:nvPr>
            <p:ph type="subTitle" idx="1"/>
          </p:nvPr>
        </p:nvSpPr>
        <p:spPr>
          <a:xfrm>
            <a:off x="1088569" y="1205699"/>
            <a:ext cx="10624457" cy="5177684"/>
          </a:xfrm>
        </p:spPr>
        <p:txBody>
          <a:bodyPr>
            <a:normAutofit/>
          </a:bodyPr>
          <a:lstStyle/>
          <a:p>
            <a:pPr marL="342900" indent="-342900" algn="just">
              <a:buClr>
                <a:schemeClr val="tx1"/>
              </a:buClr>
              <a:buSzPct val="119000"/>
              <a:buFont typeface="Arial" panose="020B0604020202020204" pitchFamily="34" charset="0"/>
              <a:buChar char="•"/>
            </a:pPr>
            <a:r>
              <a:rPr lang="en-US" b="1" dirty="0">
                <a:solidFill>
                  <a:schemeClr val="tx1"/>
                </a:solidFill>
              </a:rPr>
              <a:t>Java InputStreamReader &amp; OutputStreamWriter: Converts byte streams to character streams</a:t>
            </a:r>
            <a:r>
              <a:rPr lang="en-US" b="1" dirty="0" smtClean="0">
                <a:solidFill>
                  <a:schemeClr val="tx1"/>
                </a:solidFill>
              </a:rPr>
              <a:t>.</a:t>
            </a:r>
          </a:p>
          <a:p>
            <a:pPr lvl="2" algn="just">
              <a:buClr>
                <a:schemeClr val="tx1"/>
              </a:buClr>
              <a:buSzPct val="119000"/>
            </a:pPr>
            <a:r>
              <a:rPr lang="en-US" sz="2000" b="1" dirty="0" smtClean="0">
                <a:solidFill>
                  <a:schemeClr val="tx1"/>
                </a:solidFill>
              </a:rPr>
              <a:t>The </a:t>
            </a:r>
            <a:r>
              <a:rPr lang="en-US" sz="2000" b="1" dirty="0">
                <a:solidFill>
                  <a:schemeClr val="tx1"/>
                </a:solidFill>
              </a:rPr>
              <a:t>InputStream class works with byte streams, but sometimes we need </a:t>
            </a:r>
            <a:r>
              <a:rPr lang="en-US" sz="2000" b="1" dirty="0" smtClean="0">
                <a:solidFill>
                  <a:schemeClr val="tx1"/>
                </a:solidFill>
              </a:rPr>
              <a:t>to </a:t>
            </a:r>
            <a:r>
              <a:rPr lang="en-US" sz="2000" b="1" dirty="0">
                <a:solidFill>
                  <a:schemeClr val="tx1"/>
                </a:solidFill>
              </a:rPr>
              <a:t>work with character streams. Java provides InputStreamReader, which acts as an adapter that converts an InputStream (bytes) into a Reader (characters).</a:t>
            </a:r>
            <a:endParaRPr lang="en-US" sz="2000" b="1" dirty="0" smtClean="0">
              <a:solidFill>
                <a:schemeClr val="tx1"/>
              </a:solidFill>
            </a:endParaRPr>
          </a:p>
          <a:p>
            <a:pPr marL="342900" indent="-342900" algn="just">
              <a:buClr>
                <a:schemeClr val="tx1"/>
              </a:buClr>
              <a:buSzPct val="119000"/>
              <a:buFont typeface="Arial" panose="020B0604020202020204" pitchFamily="34" charset="0"/>
              <a:buChar char="•"/>
            </a:pPr>
            <a:r>
              <a:rPr lang="en-US" b="1" dirty="0">
                <a:solidFill>
                  <a:schemeClr val="tx1"/>
                </a:solidFill>
              </a:rPr>
              <a:t>JDBC Drivers: Adapt different database protocols to the common JDBC interface</a:t>
            </a:r>
            <a:r>
              <a:rPr lang="en-US" b="1" dirty="0" smtClean="0">
                <a:solidFill>
                  <a:schemeClr val="tx1"/>
                </a:solidFill>
              </a:rPr>
              <a:t>.</a:t>
            </a:r>
          </a:p>
          <a:p>
            <a:pPr lvl="2" algn="just">
              <a:buClr>
                <a:schemeClr val="tx1"/>
              </a:buClr>
              <a:buSzPct val="119000"/>
            </a:pPr>
            <a:r>
              <a:rPr lang="en-US" sz="2000" b="1" dirty="0">
                <a:solidFill>
                  <a:schemeClr val="tx1"/>
                </a:solidFill>
              </a:rPr>
              <a:t>Java provides a common interface (java.sql.Connection) for connecting to databases. Different databases (MySQL, PostgreSQL, etc.) have their own incompatible </a:t>
            </a:r>
            <a:r>
              <a:rPr lang="en-US" sz="2000" b="1" dirty="0" smtClean="0">
                <a:solidFill>
                  <a:schemeClr val="tx1"/>
                </a:solidFill>
              </a:rPr>
              <a:t>implementations. To </a:t>
            </a:r>
            <a:r>
              <a:rPr lang="en-US" sz="2000" b="1" dirty="0">
                <a:solidFill>
                  <a:schemeClr val="tx1"/>
                </a:solidFill>
              </a:rPr>
              <a:t>make them work with the JDBC API, database vendors provide JDBC Drivers as Adapters.</a:t>
            </a:r>
            <a:endParaRPr lang="en-US" sz="2000" b="1" dirty="0" smtClean="0">
              <a:solidFill>
                <a:schemeClr val="tx1"/>
              </a:solidFill>
            </a:endParaRPr>
          </a:p>
          <a:p>
            <a:pPr marL="342900" indent="-342900" algn="just">
              <a:buClr>
                <a:schemeClr val="tx1"/>
              </a:buClr>
              <a:buSzPct val="119000"/>
              <a:buFont typeface="Arial" panose="020B0604020202020204" pitchFamily="34" charset="0"/>
              <a:buChar char="•"/>
            </a:pPr>
            <a:r>
              <a:rPr lang="en-US" b="1" dirty="0">
                <a:solidFill>
                  <a:schemeClr val="tx1"/>
                </a:solidFill>
              </a:rPr>
              <a:t>Convert Array to List in </a:t>
            </a:r>
            <a:r>
              <a:rPr lang="en-US" b="1" dirty="0" smtClean="0">
                <a:solidFill>
                  <a:schemeClr val="tx1"/>
                </a:solidFill>
              </a:rPr>
              <a:t>Java</a:t>
            </a:r>
          </a:p>
          <a:p>
            <a:pPr lvl="2" algn="just">
              <a:buClr>
                <a:schemeClr val="tx1"/>
              </a:buClr>
              <a:buSzPct val="119000"/>
            </a:pPr>
            <a:r>
              <a:rPr lang="en-US" sz="2000" b="1" dirty="0">
                <a:solidFill>
                  <a:schemeClr val="tx1"/>
                </a:solidFill>
              </a:rPr>
              <a:t>If you just need a read-only list, use Arrays.asList().</a:t>
            </a:r>
          </a:p>
          <a:p>
            <a:pPr lvl="2" algn="just">
              <a:buClr>
                <a:schemeClr val="tx1"/>
              </a:buClr>
              <a:buSzPct val="119000"/>
            </a:pPr>
            <a:r>
              <a:rPr lang="en-US" sz="2000" b="1" dirty="0">
                <a:solidFill>
                  <a:schemeClr val="tx1"/>
                </a:solidFill>
              </a:rPr>
              <a:t>If you need a modifiable list, use new ArrayList&lt;&gt;(Arrays.asList()).</a:t>
            </a:r>
          </a:p>
        </p:txBody>
      </p:sp>
    </p:spTree>
    <p:extLst>
      <p:ext uri="{BB962C8B-B14F-4D97-AF65-F5344CB8AC3E}">
        <p14:creationId xmlns:p14="http://schemas.microsoft.com/office/powerpoint/2010/main" val="33565362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47109" y="2682240"/>
            <a:ext cx="7968344" cy="1658448"/>
          </a:xfrm>
        </p:spPr>
        <p:txBody>
          <a:bodyPr>
            <a:noAutofit/>
          </a:bodyPr>
          <a:lstStyle/>
          <a:p>
            <a:r>
              <a:rPr lang="fr-FR" sz="11500" dirty="0" smtClean="0">
                <a:ln>
                  <a:solidFill>
                    <a:srgbClr val="C00000"/>
                  </a:solidFill>
                </a:ln>
                <a:latin typeface="Algerian" panose="04020705040A02060702" pitchFamily="82" charset="0"/>
              </a:rPr>
              <a:t>THANK YOU</a:t>
            </a:r>
            <a:endParaRPr lang="en-IN" dirty="0">
              <a:ln>
                <a:solidFill>
                  <a:srgbClr val="C00000"/>
                </a:solidFill>
              </a:ln>
              <a:latin typeface="Algerian" panose="04020705040A02060702" pitchFamily="82" charset="0"/>
            </a:endParaRPr>
          </a:p>
        </p:txBody>
      </p:sp>
    </p:spTree>
    <p:extLst>
      <p:ext uri="{BB962C8B-B14F-4D97-AF65-F5344CB8AC3E}">
        <p14:creationId xmlns:p14="http://schemas.microsoft.com/office/powerpoint/2010/main" val="66669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1719</TotalTime>
  <Words>1148</Words>
  <Application>Microsoft Office PowerPoint</Application>
  <PresentationFormat>Widescreen</PresentationFormat>
  <Paragraphs>103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Algerian</vt:lpstr>
      <vt:lpstr>Arial</vt:lpstr>
      <vt:lpstr>Candara</vt:lpstr>
      <vt:lpstr>Century Schoolbook</vt:lpstr>
      <vt:lpstr>Wingdings 2</vt:lpstr>
      <vt:lpstr>View</vt:lpstr>
      <vt:lpstr>Adapter Design Pattern</vt:lpstr>
      <vt:lpstr>Problem</vt:lpstr>
      <vt:lpstr>Problem</vt:lpstr>
      <vt:lpstr>PowerPoint Presentation</vt:lpstr>
      <vt:lpstr>PowerPoint Presentation</vt:lpstr>
      <vt:lpstr>Adapter Design Pattern</vt:lpstr>
      <vt:lpstr>Why the Adapter Design Pattern a Structural Pattern?</vt:lpstr>
      <vt:lpstr>Intent</vt:lpstr>
      <vt:lpstr>Structure Diagram</vt:lpstr>
      <vt:lpstr>Class Diagram</vt:lpstr>
      <vt:lpstr>Participants and Their Role</vt:lpstr>
      <vt:lpstr>How to Implement</vt:lpstr>
      <vt:lpstr>Collaboration</vt:lpstr>
      <vt:lpstr>Advantages</vt:lpstr>
      <vt:lpstr>Applicability</vt:lpstr>
      <vt:lpstr>Related Patterns</vt:lpstr>
      <vt:lpstr>Important Points About Adapter Pattern</vt:lpstr>
      <vt:lpstr>Real-Time Use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Riya Patel</dc:creator>
  <cp:lastModifiedBy>Riya Patel</cp:lastModifiedBy>
  <cp:revision>53</cp:revision>
  <dcterms:created xsi:type="dcterms:W3CDTF">2025-03-23T14:54:44Z</dcterms:created>
  <dcterms:modified xsi:type="dcterms:W3CDTF">2025-04-08T07:40:57Z</dcterms:modified>
</cp:coreProperties>
</file>